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0" r:id="rId5"/>
  </p:sldMasterIdLst>
  <p:notesMasterIdLst>
    <p:notesMasterId r:id="rId32"/>
  </p:notesMasterIdLst>
  <p:sldIdLst>
    <p:sldId id="256" r:id="rId6"/>
    <p:sldId id="448" r:id="rId7"/>
    <p:sldId id="454" r:id="rId8"/>
    <p:sldId id="455" r:id="rId9"/>
    <p:sldId id="394" r:id="rId10"/>
    <p:sldId id="395" r:id="rId11"/>
    <p:sldId id="451" r:id="rId12"/>
    <p:sldId id="460" r:id="rId13"/>
    <p:sldId id="462" r:id="rId14"/>
    <p:sldId id="463" r:id="rId15"/>
    <p:sldId id="464" r:id="rId16"/>
    <p:sldId id="398" r:id="rId17"/>
    <p:sldId id="465" r:id="rId18"/>
    <p:sldId id="466" r:id="rId19"/>
    <p:sldId id="467" r:id="rId20"/>
    <p:sldId id="468" r:id="rId21"/>
    <p:sldId id="456" r:id="rId22"/>
    <p:sldId id="457" r:id="rId23"/>
    <p:sldId id="399" r:id="rId24"/>
    <p:sldId id="458" r:id="rId25"/>
    <p:sldId id="401" r:id="rId26"/>
    <p:sldId id="400" r:id="rId27"/>
    <p:sldId id="459" r:id="rId28"/>
    <p:sldId id="450" r:id="rId29"/>
    <p:sldId id="469" r:id="rId30"/>
    <p:sldId id="397" r:id="rId31"/>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3D5D13"/>
    <a:srgbClr val="4F6F19"/>
    <a:srgbClr val="807F83"/>
    <a:srgbClr val="C5E09D"/>
    <a:srgbClr val="ABD274"/>
    <a:srgbClr val="B9DA89"/>
    <a:srgbClr val="A3CF63"/>
    <a:srgbClr val="8DC6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0254" autoAdjust="0"/>
    <p:restoredTop sz="94660"/>
  </p:normalViewPr>
  <p:slideViewPr>
    <p:cSldViewPr snapToObjects="1">
      <p:cViewPr varScale="1">
        <p:scale>
          <a:sx n="74" d="100"/>
          <a:sy n="74" d="100"/>
        </p:scale>
        <p:origin x="1133" y="28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ztonyk, Bartlomiej" userId="62dc7df2-5a54-462a-8172-6325eb285028" providerId="ADAL" clId="{3586DE81-17A9-45CF-BA39-4A68F7626AFF}"/>
    <pc:docChg chg="modSld">
      <pc:chgData name="Sztonyk, Bartlomiej" userId="62dc7df2-5a54-462a-8172-6325eb285028" providerId="ADAL" clId="{3586DE81-17A9-45CF-BA39-4A68F7626AFF}" dt="2025-03-13T03:40:02.891" v="41" actId="20577"/>
      <pc:docMkLst>
        <pc:docMk/>
      </pc:docMkLst>
      <pc:sldChg chg="modSp mod">
        <pc:chgData name="Sztonyk, Bartlomiej" userId="62dc7df2-5a54-462a-8172-6325eb285028" providerId="ADAL" clId="{3586DE81-17A9-45CF-BA39-4A68F7626AFF}" dt="2025-03-13T03:29:57.953" v="40" actId="20577"/>
        <pc:sldMkLst>
          <pc:docMk/>
          <pc:sldMk cId="0" sldId="256"/>
        </pc:sldMkLst>
        <pc:spChg chg="mod">
          <ac:chgData name="Sztonyk, Bartlomiej" userId="62dc7df2-5a54-462a-8172-6325eb285028" providerId="ADAL" clId="{3586DE81-17A9-45CF-BA39-4A68F7626AFF}" dt="2025-03-13T03:29:57.953" v="40" actId="20577"/>
          <ac:spMkLst>
            <pc:docMk/>
            <pc:sldMk cId="0" sldId="256"/>
            <ac:spMk id="18434" creationId="{00000000-0000-0000-0000-000000000000}"/>
          </ac:spMkLst>
        </pc:spChg>
      </pc:sldChg>
      <pc:sldChg chg="modSp mod">
        <pc:chgData name="Sztonyk, Bartlomiej" userId="62dc7df2-5a54-462a-8172-6325eb285028" providerId="ADAL" clId="{3586DE81-17A9-45CF-BA39-4A68F7626AFF}" dt="2025-03-13T03:40:02.891" v="41" actId="20577"/>
        <pc:sldMkLst>
          <pc:docMk/>
          <pc:sldMk cId="3841797026" sldId="463"/>
        </pc:sldMkLst>
        <pc:spChg chg="mod">
          <ac:chgData name="Sztonyk, Bartlomiej" userId="62dc7df2-5a54-462a-8172-6325eb285028" providerId="ADAL" clId="{3586DE81-17A9-45CF-BA39-4A68F7626AFF}" dt="2025-03-13T03:40:02.891" v="41" actId="20577"/>
          <ac:spMkLst>
            <pc:docMk/>
            <pc:sldMk cId="3841797026" sldId="463"/>
            <ac:spMk id="3" creationId="{1055258C-C70E-4C6F-3182-CE8154D6930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662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fld id="{156CBB74-B818-47AD-86DE-1B302FAA7D1B}" type="datetimeFigureOut">
              <a:rPr lang="en-US"/>
              <a:pPr>
                <a:defRPr/>
              </a:pPr>
              <a:t>3/13/2025</a:t>
            </a:fld>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662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663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663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C6E9BEE7-BBF8-4593-8434-95C5B8E3D848}" type="slidenum">
              <a:rPr lang="en-US"/>
              <a:pPr>
                <a:defRPr/>
              </a:pPr>
              <a:t>‹#›</a:t>
            </a:fld>
            <a:endParaRPr lang="en-US"/>
          </a:p>
        </p:txBody>
      </p:sp>
    </p:spTree>
    <p:extLst>
      <p:ext uri="{BB962C8B-B14F-4D97-AF65-F5344CB8AC3E}">
        <p14:creationId xmlns:p14="http://schemas.microsoft.com/office/powerpoint/2010/main" val="26390409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81400" y="4318001"/>
            <a:ext cx="4876800" cy="1008841"/>
          </a:xfrm>
        </p:spPr>
        <p:txBody>
          <a:bodyPr anchor="b">
            <a:normAutofit/>
          </a:bodyPr>
          <a:lstStyle>
            <a:lvl1pPr algn="l">
              <a:defRPr sz="2400">
                <a:solidFill>
                  <a:srgbClr val="586469"/>
                </a:solidFill>
              </a:defRPr>
            </a:lvl1pPr>
          </a:lstStyle>
          <a:p>
            <a:r>
              <a:rPr lang="en-US" dirty="0"/>
              <a:t>Click to edit Master title style</a:t>
            </a:r>
          </a:p>
        </p:txBody>
      </p:sp>
      <p:sp>
        <p:nvSpPr>
          <p:cNvPr id="3" name="Subtitle 2"/>
          <p:cNvSpPr>
            <a:spLocks noGrp="1"/>
          </p:cNvSpPr>
          <p:nvPr>
            <p:ph type="subTitle" idx="1"/>
          </p:nvPr>
        </p:nvSpPr>
        <p:spPr>
          <a:xfrm>
            <a:off x="3581400" y="5326842"/>
            <a:ext cx="4876800" cy="1202765"/>
          </a:xfrm>
        </p:spPr>
        <p:txBody>
          <a:bodyPr/>
          <a:lstStyle>
            <a:lvl1pPr marL="0" indent="0" algn="l">
              <a:buNone/>
              <a:defRPr sz="160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2pPr>
              <a:buFont typeface="Arial" pitchFamily="34" charset="0"/>
              <a:buChar char="–"/>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0"/>
          </p:nvPr>
        </p:nvSpPr>
        <p:spPr/>
        <p:txBody>
          <a:bodyPr/>
          <a:lstStyle>
            <a:lvl1pPr>
              <a:defRPr/>
            </a:lvl1pPr>
          </a:lstStyle>
          <a:p>
            <a:pPr>
              <a:defRPr/>
            </a:pPr>
            <a:fld id="{3AD1BE0A-9D7F-468C-B599-8AB35EA99D95}"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097CB350-BDE3-4C3A-9A49-62B535D0368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Slide Number Placeholder 5"/>
          <p:cNvSpPr>
            <a:spLocks noGrp="1"/>
          </p:cNvSpPr>
          <p:nvPr>
            <p:ph type="sldNum" sz="quarter" idx="10"/>
          </p:nvPr>
        </p:nvSpPr>
        <p:spPr/>
        <p:txBody>
          <a:bodyPr/>
          <a:lstStyle>
            <a:lvl1pPr>
              <a:defRPr/>
            </a:lvl1pPr>
          </a:lstStyle>
          <a:p>
            <a:pPr>
              <a:defRPr/>
            </a:pPr>
            <a:fld id="{D5F5DDF2-F5AF-44E2-90BB-EFA7DE8E7DD7}"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lvl2pPr>
              <a:buFont typeface="Arial" pitchFamily="34" charset="0"/>
              <a:buChar char="–"/>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5"/>
          <p:cNvSpPr>
            <a:spLocks noGrp="1"/>
          </p:cNvSpPr>
          <p:nvPr>
            <p:ph type="sldNum" sz="quarter" idx="10"/>
          </p:nvPr>
        </p:nvSpPr>
        <p:spPr/>
        <p:txBody>
          <a:bodyPr/>
          <a:lstStyle>
            <a:lvl1pPr>
              <a:defRPr/>
            </a:lvl1pPr>
          </a:lstStyle>
          <a:p>
            <a:pPr>
              <a:defRPr/>
            </a:pPr>
            <a:fld id="{474295CD-2349-4261-BC68-7AE29CA56D8A}"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5"/>
          <p:cNvSpPr>
            <a:spLocks noGrp="1"/>
          </p:cNvSpPr>
          <p:nvPr>
            <p:ph type="sldNum" sz="quarter" idx="10"/>
          </p:nvPr>
        </p:nvSpPr>
        <p:spPr/>
        <p:txBody>
          <a:bodyPr/>
          <a:lstStyle>
            <a:lvl1pPr>
              <a:defRPr/>
            </a:lvl1pPr>
          </a:lstStyle>
          <a:p>
            <a:pPr>
              <a:defRPr/>
            </a:pPr>
            <a:fld id="{712141C3-DD48-428E-86F6-B15FB29761B1}"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buFont typeface="Arial" pitchFamily="34" charset="0"/>
              <a:buChar cha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buFont typeface="Arial" pitchFamily="34" charset="0"/>
              <a:buChar cha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p:cNvSpPr>
            <a:spLocks noGrp="1"/>
          </p:cNvSpPr>
          <p:nvPr>
            <p:ph type="sldNum" sz="quarter" idx="10"/>
          </p:nvPr>
        </p:nvSpPr>
        <p:spPr/>
        <p:txBody>
          <a:bodyPr/>
          <a:lstStyle>
            <a:lvl1pPr>
              <a:defRPr/>
            </a:lvl1pPr>
          </a:lstStyle>
          <a:p>
            <a:pPr>
              <a:defRPr/>
            </a:pPr>
            <a:fld id="{CF91A9AF-E38A-442F-86DC-731F80C568E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buFont typeface="Arial" pitchFamily="34" charset="0"/>
              <a:buChar cha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buFont typeface="Arial" pitchFamily="34" charset="0"/>
              <a:buChar cha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0"/>
          </p:nvPr>
        </p:nvSpPr>
        <p:spPr/>
        <p:txBody>
          <a:bodyPr/>
          <a:lstStyle>
            <a:lvl1pPr>
              <a:defRPr/>
            </a:lvl1pPr>
          </a:lstStyle>
          <a:p>
            <a:pPr>
              <a:defRPr/>
            </a:pPr>
            <a:fld id="{3D7103FC-210E-4A32-9966-5083534DC47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B108D1CC-ABE4-419E-B277-0D9712E4AC4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p:txBody>
          <a:bodyPr/>
          <a:lstStyle>
            <a:lvl1pPr>
              <a:defRPr/>
            </a:lvl1pPr>
          </a:lstStyle>
          <a:p>
            <a:pPr>
              <a:defRPr/>
            </a:pPr>
            <a:fld id="{06026205-6A47-4038-B160-43246DDA1ED5}"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buFont typeface="Arial" pitchFamily="34" charset="0"/>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F194ADCD-37E4-42D6-98E6-10FE00BF5891}"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5"/>
          <p:cNvSpPr>
            <a:spLocks noGrp="1"/>
          </p:cNvSpPr>
          <p:nvPr>
            <p:ph type="sldNum" sz="quarter" idx="10"/>
          </p:nvPr>
        </p:nvSpPr>
        <p:spPr/>
        <p:txBody>
          <a:bodyPr/>
          <a:lstStyle>
            <a:lvl1pPr>
              <a:defRPr/>
            </a:lvl1pPr>
          </a:lstStyle>
          <a:p>
            <a:pPr>
              <a:defRPr/>
            </a:pPr>
            <a:fld id="{6D0D4336-B9C0-40DD-85C4-8A77ECE5F347}"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p:txBody>
          <a:bodyPr/>
          <a:lstStyle>
            <a:lvl1pPr>
              <a:defRPr/>
            </a:lvl1pPr>
          </a:lstStyle>
          <a:p>
            <a:pPr>
              <a:defRPr/>
            </a:pPr>
            <a:fld id="{595A53C5-A360-4648-8D36-95147DA19B54}"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5"/>
          <p:cNvSpPr>
            <a:spLocks noGrp="1"/>
          </p:cNvSpPr>
          <p:nvPr>
            <p:ph type="sldNum" sz="quarter" idx="10"/>
          </p:nvPr>
        </p:nvSpPr>
        <p:spPr/>
        <p:txBody>
          <a:bodyPr/>
          <a:lstStyle>
            <a:lvl1pPr>
              <a:defRPr/>
            </a:lvl1pPr>
          </a:lstStyle>
          <a:p>
            <a:pPr>
              <a:defRPr/>
            </a:pPr>
            <a:fld id="{FB6BB95D-4EA4-4FA4-808B-64335A22496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1.jpeg"/><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81000" y="195263"/>
            <a:ext cx="6096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381000" y="1219200"/>
            <a:ext cx="8305800" cy="49530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8039100" y="6224588"/>
            <a:ext cx="685800" cy="228600"/>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6E6F70"/>
                </a:solidFill>
                <a:cs typeface="Arial" charset="0"/>
              </a:defRPr>
            </a:lvl1pPr>
          </a:lstStyle>
          <a:p>
            <a:pPr>
              <a:defRPr/>
            </a:pPr>
            <a:fld id="{ACA6B0B7-1A97-447C-9D29-22E1DAC192A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5" r:id="rId1"/>
    <p:sldLayoutId id="2147483653" r:id="rId2"/>
    <p:sldLayoutId id="2147483652" r:id="rId3"/>
  </p:sldLayoutIdLst>
  <p:hf hdr="0" ftr="0" dt="0"/>
  <p:txStyles>
    <p:titleStyle>
      <a:lvl1pPr algn="l" defTabSz="457200" rtl="0" eaLnBrk="0" fontAlgn="base" hangingPunct="0">
        <a:spcBef>
          <a:spcPct val="0"/>
        </a:spcBef>
        <a:spcAft>
          <a:spcPct val="0"/>
        </a:spcAft>
        <a:defRPr sz="2400" kern="1200">
          <a:solidFill>
            <a:srgbClr val="807F83"/>
          </a:solidFill>
          <a:latin typeface="Arial"/>
          <a:ea typeface="+mj-ea"/>
          <a:cs typeface="Arial"/>
        </a:defRPr>
      </a:lvl1pPr>
      <a:lvl2pPr algn="l" defTabSz="457200" rtl="0" eaLnBrk="0" fontAlgn="base" hangingPunct="0">
        <a:spcBef>
          <a:spcPct val="0"/>
        </a:spcBef>
        <a:spcAft>
          <a:spcPct val="0"/>
        </a:spcAft>
        <a:defRPr sz="2400">
          <a:solidFill>
            <a:srgbClr val="807F83"/>
          </a:solidFill>
          <a:latin typeface="Arial" charset="0"/>
          <a:cs typeface="Arial" charset="0"/>
        </a:defRPr>
      </a:lvl2pPr>
      <a:lvl3pPr algn="l" defTabSz="457200" rtl="0" eaLnBrk="0" fontAlgn="base" hangingPunct="0">
        <a:spcBef>
          <a:spcPct val="0"/>
        </a:spcBef>
        <a:spcAft>
          <a:spcPct val="0"/>
        </a:spcAft>
        <a:defRPr sz="2400">
          <a:solidFill>
            <a:srgbClr val="807F83"/>
          </a:solidFill>
          <a:latin typeface="Arial" charset="0"/>
          <a:cs typeface="Arial" charset="0"/>
        </a:defRPr>
      </a:lvl3pPr>
      <a:lvl4pPr algn="l" defTabSz="457200" rtl="0" eaLnBrk="0" fontAlgn="base" hangingPunct="0">
        <a:spcBef>
          <a:spcPct val="0"/>
        </a:spcBef>
        <a:spcAft>
          <a:spcPct val="0"/>
        </a:spcAft>
        <a:defRPr sz="2400">
          <a:solidFill>
            <a:srgbClr val="807F83"/>
          </a:solidFill>
          <a:latin typeface="Arial" charset="0"/>
          <a:cs typeface="Arial" charset="0"/>
        </a:defRPr>
      </a:lvl4pPr>
      <a:lvl5pPr algn="l" defTabSz="457200" rtl="0" eaLnBrk="0" fontAlgn="base" hangingPunct="0">
        <a:spcBef>
          <a:spcPct val="0"/>
        </a:spcBef>
        <a:spcAft>
          <a:spcPct val="0"/>
        </a:spcAft>
        <a:defRPr sz="2400">
          <a:solidFill>
            <a:srgbClr val="807F83"/>
          </a:solidFill>
          <a:latin typeface="Arial" charset="0"/>
          <a:cs typeface="Arial" charset="0"/>
        </a:defRPr>
      </a:lvl5pPr>
      <a:lvl6pPr marL="457200" algn="l" defTabSz="457200" rtl="0" fontAlgn="base">
        <a:spcBef>
          <a:spcPct val="0"/>
        </a:spcBef>
        <a:spcAft>
          <a:spcPct val="0"/>
        </a:spcAft>
        <a:defRPr sz="2400">
          <a:solidFill>
            <a:schemeClr val="tx2"/>
          </a:solidFill>
          <a:latin typeface="Arial" charset="0"/>
          <a:cs typeface="Arial" charset="0"/>
        </a:defRPr>
      </a:lvl6pPr>
      <a:lvl7pPr marL="914400" algn="l" defTabSz="457200" rtl="0" fontAlgn="base">
        <a:spcBef>
          <a:spcPct val="0"/>
        </a:spcBef>
        <a:spcAft>
          <a:spcPct val="0"/>
        </a:spcAft>
        <a:defRPr sz="2400">
          <a:solidFill>
            <a:schemeClr val="tx2"/>
          </a:solidFill>
          <a:latin typeface="Arial" charset="0"/>
          <a:cs typeface="Arial" charset="0"/>
        </a:defRPr>
      </a:lvl7pPr>
      <a:lvl8pPr marL="1371600" algn="l" defTabSz="457200" rtl="0" fontAlgn="base">
        <a:spcBef>
          <a:spcPct val="0"/>
        </a:spcBef>
        <a:spcAft>
          <a:spcPct val="0"/>
        </a:spcAft>
        <a:defRPr sz="2400">
          <a:solidFill>
            <a:schemeClr val="tx2"/>
          </a:solidFill>
          <a:latin typeface="Arial" charset="0"/>
          <a:cs typeface="Arial" charset="0"/>
        </a:defRPr>
      </a:lvl8pPr>
      <a:lvl9pPr marL="1828800" algn="l" defTabSz="457200" rtl="0" fontAlgn="base">
        <a:spcBef>
          <a:spcPct val="0"/>
        </a:spcBef>
        <a:spcAft>
          <a:spcPct val="0"/>
        </a:spcAft>
        <a:defRPr sz="2400">
          <a:solidFill>
            <a:schemeClr val="tx2"/>
          </a:solidFill>
          <a:latin typeface="Arial" charset="0"/>
          <a:cs typeface="Arial" charset="0"/>
        </a:defRPr>
      </a:lvl9pPr>
    </p:titleStyle>
    <p:bodyStyle>
      <a:lvl1pPr marL="173038" indent="-173038" algn="l" defTabSz="457200" rtl="0" eaLnBrk="0" fontAlgn="base" hangingPunct="0">
        <a:spcBef>
          <a:spcPct val="20000"/>
        </a:spcBef>
        <a:spcAft>
          <a:spcPct val="0"/>
        </a:spcAft>
        <a:buClr>
          <a:srgbClr val="4F6F19"/>
        </a:buClr>
        <a:buSzPct val="120000"/>
        <a:buFont typeface="Arial" charset="0"/>
        <a:buChar char="•"/>
        <a:defRPr sz="1400" kern="1200">
          <a:solidFill>
            <a:schemeClr val="tx1"/>
          </a:solidFill>
          <a:latin typeface="Arial"/>
          <a:ea typeface="+mn-ea"/>
          <a:cs typeface="Arial"/>
        </a:defRPr>
      </a:lvl1pPr>
      <a:lvl2pPr marL="627063" indent="-230188" algn="l" defTabSz="457200" rtl="0" eaLnBrk="0" fontAlgn="base" hangingPunct="0">
        <a:spcBef>
          <a:spcPct val="20000"/>
        </a:spcBef>
        <a:spcAft>
          <a:spcPct val="0"/>
        </a:spcAft>
        <a:buClr>
          <a:srgbClr val="8DC63F"/>
        </a:buClr>
        <a:buSzPct val="110000"/>
        <a:buFont typeface="Arial" charset="0"/>
        <a:buChar char="–"/>
        <a:defRPr sz="1200" kern="1200">
          <a:solidFill>
            <a:srgbClr val="807F83"/>
          </a:solidFill>
          <a:latin typeface="Arial"/>
          <a:ea typeface="+mn-ea"/>
          <a:cs typeface="Arial"/>
        </a:defRPr>
      </a:lvl2pPr>
      <a:lvl3pPr marL="858838" indent="-117475" algn="l" defTabSz="457200" rtl="0" eaLnBrk="0" fontAlgn="base" hangingPunct="0">
        <a:spcBef>
          <a:spcPct val="20000"/>
        </a:spcBef>
        <a:spcAft>
          <a:spcPct val="0"/>
        </a:spcAft>
        <a:buClr>
          <a:srgbClr val="807F83"/>
        </a:buClr>
        <a:buFont typeface="Arial" charset="0"/>
        <a:buChar char="•"/>
        <a:defRPr sz="1100" kern="1200">
          <a:solidFill>
            <a:srgbClr val="807F83"/>
          </a:solidFill>
          <a:latin typeface="Arial"/>
          <a:ea typeface="+mn-ea"/>
          <a:cs typeface="Arial"/>
        </a:defRPr>
      </a:lvl3pPr>
      <a:lvl4pPr marL="1201738" indent="-173038" algn="l" defTabSz="457200" rtl="0" eaLnBrk="0" fontAlgn="base" hangingPunct="0">
        <a:spcBef>
          <a:spcPct val="20000"/>
        </a:spcBef>
        <a:spcAft>
          <a:spcPct val="0"/>
        </a:spcAft>
        <a:buClr>
          <a:srgbClr val="A3CF63"/>
        </a:buClr>
        <a:buFont typeface="Arial" charset="0"/>
        <a:buChar char="–"/>
        <a:defRPr sz="1000" kern="1200">
          <a:solidFill>
            <a:srgbClr val="807F83"/>
          </a:solidFill>
          <a:latin typeface="Arial"/>
          <a:ea typeface="+mn-ea"/>
          <a:cs typeface="Arial"/>
        </a:defRPr>
      </a:lvl4pPr>
      <a:lvl5pPr marL="1438275" indent="-122238" algn="l" defTabSz="457200" rtl="0" eaLnBrk="0" fontAlgn="base" hangingPunct="0">
        <a:spcBef>
          <a:spcPct val="20000"/>
        </a:spcBef>
        <a:spcAft>
          <a:spcPct val="0"/>
        </a:spcAft>
        <a:buClr>
          <a:srgbClr val="B9DA89"/>
        </a:buClr>
        <a:buFont typeface="Arial" charset="0"/>
        <a:buChar char="•"/>
        <a:defRPr sz="1000" kern="1200">
          <a:solidFill>
            <a:srgbClr val="807F83"/>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pic>
        <p:nvPicPr>
          <p:cNvPr id="5122" name="Picture 6" descr="FNI17269 Cover5.jpg"/>
          <p:cNvPicPr>
            <a:picLocks noChangeAspect="1"/>
          </p:cNvPicPr>
          <p:nvPr/>
        </p:nvPicPr>
        <p:blipFill>
          <a:blip r:embed="rId14"/>
          <a:srcRect b="54443"/>
          <a:stretch>
            <a:fillRect/>
          </a:stretch>
        </p:blipFill>
        <p:spPr bwMode="auto">
          <a:xfrm>
            <a:off x="0" y="0"/>
            <a:ext cx="9144000" cy="3124200"/>
          </a:xfrm>
          <a:prstGeom prst="rect">
            <a:avLst/>
          </a:prstGeom>
          <a:noFill/>
          <a:ln w="9525">
            <a:noFill/>
            <a:miter lim="800000"/>
            <a:headEnd/>
            <a:tailEnd/>
          </a:ln>
        </p:spPr>
      </p:pic>
      <p:sp>
        <p:nvSpPr>
          <p:cNvPr id="6" name="Slide Number Placeholder 5"/>
          <p:cNvSpPr>
            <a:spLocks noGrp="1"/>
          </p:cNvSpPr>
          <p:nvPr>
            <p:ph type="sldNum" sz="quarter" idx="4"/>
          </p:nvPr>
        </p:nvSpPr>
        <p:spPr>
          <a:xfrm>
            <a:off x="8039100" y="6224588"/>
            <a:ext cx="685800" cy="228600"/>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6E6F70"/>
                </a:solidFill>
                <a:cs typeface="Arial" charset="0"/>
              </a:defRPr>
            </a:lvl1pPr>
          </a:lstStyle>
          <a:p>
            <a:pPr>
              <a:defRPr/>
            </a:pPr>
            <a:fld id="{70A17B4C-FC94-4F45-9DF5-06A466D3C69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4" r:id="rId1"/>
    <p:sldLayoutId id="2147483663" r:id="rId2"/>
    <p:sldLayoutId id="2147483662" r:id="rId3"/>
    <p:sldLayoutId id="2147483661" r:id="rId4"/>
    <p:sldLayoutId id="2147483660" r:id="rId5"/>
    <p:sldLayoutId id="2147483659" r:id="rId6"/>
    <p:sldLayoutId id="2147483658" r:id="rId7"/>
    <p:sldLayoutId id="2147483657" r:id="rId8"/>
    <p:sldLayoutId id="2147483656" r:id="rId9"/>
    <p:sldLayoutId id="2147483655" r:id="rId10"/>
    <p:sldLayoutId id="2147483654" r:id="rId11"/>
  </p:sldLayoutIdLst>
  <p:hf hdr="0" ftr="0" dt="0"/>
  <p:txStyles>
    <p:titleStyle>
      <a:lvl1pPr algn="l" defTabSz="457200" rtl="0" eaLnBrk="0" fontAlgn="base" hangingPunct="0">
        <a:spcBef>
          <a:spcPct val="0"/>
        </a:spcBef>
        <a:spcAft>
          <a:spcPct val="0"/>
        </a:spcAft>
        <a:defRPr sz="2400">
          <a:solidFill>
            <a:schemeClr val="tx2"/>
          </a:solidFill>
          <a:latin typeface="+mj-lt"/>
          <a:ea typeface="+mj-ea"/>
          <a:cs typeface="+mj-cs"/>
        </a:defRPr>
      </a:lvl1pPr>
      <a:lvl2pPr algn="l" defTabSz="457200" rtl="0" eaLnBrk="0" fontAlgn="base" hangingPunct="0">
        <a:spcBef>
          <a:spcPct val="0"/>
        </a:spcBef>
        <a:spcAft>
          <a:spcPct val="0"/>
        </a:spcAft>
        <a:defRPr sz="2400">
          <a:solidFill>
            <a:schemeClr val="tx2"/>
          </a:solidFill>
          <a:latin typeface="Arial" charset="0"/>
          <a:cs typeface="Arial" charset="0"/>
        </a:defRPr>
      </a:lvl2pPr>
      <a:lvl3pPr algn="l" defTabSz="457200" rtl="0" eaLnBrk="0" fontAlgn="base" hangingPunct="0">
        <a:spcBef>
          <a:spcPct val="0"/>
        </a:spcBef>
        <a:spcAft>
          <a:spcPct val="0"/>
        </a:spcAft>
        <a:defRPr sz="2400">
          <a:solidFill>
            <a:schemeClr val="tx2"/>
          </a:solidFill>
          <a:latin typeface="Arial" charset="0"/>
          <a:cs typeface="Arial" charset="0"/>
        </a:defRPr>
      </a:lvl3pPr>
      <a:lvl4pPr algn="l" defTabSz="457200" rtl="0" eaLnBrk="0" fontAlgn="base" hangingPunct="0">
        <a:spcBef>
          <a:spcPct val="0"/>
        </a:spcBef>
        <a:spcAft>
          <a:spcPct val="0"/>
        </a:spcAft>
        <a:defRPr sz="2400">
          <a:solidFill>
            <a:schemeClr val="tx2"/>
          </a:solidFill>
          <a:latin typeface="Arial" charset="0"/>
          <a:cs typeface="Arial" charset="0"/>
        </a:defRPr>
      </a:lvl4pPr>
      <a:lvl5pPr algn="l" defTabSz="457200" rtl="0" eaLnBrk="0" fontAlgn="base" hangingPunct="0">
        <a:spcBef>
          <a:spcPct val="0"/>
        </a:spcBef>
        <a:spcAft>
          <a:spcPct val="0"/>
        </a:spcAft>
        <a:defRPr sz="2400">
          <a:solidFill>
            <a:schemeClr val="tx2"/>
          </a:solidFill>
          <a:latin typeface="Arial" charset="0"/>
          <a:cs typeface="Arial" charset="0"/>
        </a:defRPr>
      </a:lvl5pPr>
      <a:lvl6pPr marL="457200" algn="l" defTabSz="457200" rtl="0" fontAlgn="base">
        <a:spcBef>
          <a:spcPct val="0"/>
        </a:spcBef>
        <a:spcAft>
          <a:spcPct val="0"/>
        </a:spcAft>
        <a:defRPr sz="2400">
          <a:solidFill>
            <a:schemeClr val="tx2"/>
          </a:solidFill>
          <a:latin typeface="Arial" charset="0"/>
          <a:cs typeface="Arial" charset="0"/>
        </a:defRPr>
      </a:lvl6pPr>
      <a:lvl7pPr marL="914400" algn="l" defTabSz="457200" rtl="0" fontAlgn="base">
        <a:spcBef>
          <a:spcPct val="0"/>
        </a:spcBef>
        <a:spcAft>
          <a:spcPct val="0"/>
        </a:spcAft>
        <a:defRPr sz="2400">
          <a:solidFill>
            <a:schemeClr val="tx2"/>
          </a:solidFill>
          <a:latin typeface="Arial" charset="0"/>
          <a:cs typeface="Arial" charset="0"/>
        </a:defRPr>
      </a:lvl7pPr>
      <a:lvl8pPr marL="1371600" algn="l" defTabSz="457200" rtl="0" fontAlgn="base">
        <a:spcBef>
          <a:spcPct val="0"/>
        </a:spcBef>
        <a:spcAft>
          <a:spcPct val="0"/>
        </a:spcAft>
        <a:defRPr sz="2400">
          <a:solidFill>
            <a:schemeClr val="tx2"/>
          </a:solidFill>
          <a:latin typeface="Arial" charset="0"/>
          <a:cs typeface="Arial" charset="0"/>
        </a:defRPr>
      </a:lvl8pPr>
      <a:lvl9pPr marL="1828800" algn="l" defTabSz="457200" rtl="0" fontAlgn="base">
        <a:spcBef>
          <a:spcPct val="0"/>
        </a:spcBef>
        <a:spcAft>
          <a:spcPct val="0"/>
        </a:spcAft>
        <a:defRPr sz="2400">
          <a:solidFill>
            <a:schemeClr val="tx2"/>
          </a:solidFill>
          <a:latin typeface="Arial" charset="0"/>
          <a:cs typeface="Arial" charset="0"/>
        </a:defRPr>
      </a:lvl9pPr>
    </p:titleStyle>
    <p:bodyStyle>
      <a:lvl1pPr marL="173038" indent="-173038" algn="l" defTabSz="457200" rtl="0" eaLnBrk="0" fontAlgn="base" hangingPunct="0">
        <a:spcBef>
          <a:spcPct val="20000"/>
        </a:spcBef>
        <a:spcAft>
          <a:spcPct val="0"/>
        </a:spcAft>
        <a:buClr>
          <a:srgbClr val="3E5C10"/>
        </a:buClr>
        <a:buSzPct val="120000"/>
        <a:buFont typeface="Arial" charset="0"/>
        <a:buChar char="•"/>
        <a:defRPr sz="1400">
          <a:solidFill>
            <a:schemeClr val="tx1"/>
          </a:solidFill>
          <a:latin typeface="+mn-lt"/>
          <a:ea typeface="+mn-ea"/>
          <a:cs typeface="+mn-cs"/>
        </a:defRPr>
      </a:lvl1pPr>
      <a:lvl2pPr marL="519113" indent="-122238" algn="l" defTabSz="457200" rtl="0" eaLnBrk="0" fontAlgn="base" hangingPunct="0">
        <a:spcBef>
          <a:spcPct val="20000"/>
        </a:spcBef>
        <a:spcAft>
          <a:spcPct val="0"/>
        </a:spcAft>
        <a:buClr>
          <a:srgbClr val="7ABB2B"/>
        </a:buClr>
        <a:buSzPct val="110000"/>
        <a:buFont typeface="Arial" charset="0"/>
        <a:buChar char="•"/>
        <a:defRPr sz="1200">
          <a:solidFill>
            <a:schemeClr val="tx2"/>
          </a:solidFill>
          <a:latin typeface="+mn-lt"/>
          <a:cs typeface="+mn-cs"/>
        </a:defRPr>
      </a:lvl2pPr>
      <a:lvl3pPr marL="742950" indent="-112713" algn="l" defTabSz="457200" rtl="0" eaLnBrk="0" fontAlgn="base" hangingPunct="0">
        <a:spcBef>
          <a:spcPct val="20000"/>
        </a:spcBef>
        <a:spcAft>
          <a:spcPct val="0"/>
        </a:spcAft>
        <a:buClr>
          <a:srgbClr val="6D6C70"/>
        </a:buClr>
        <a:buFont typeface="Arial" charset="0"/>
        <a:buChar char="•"/>
        <a:defRPr sz="1100">
          <a:solidFill>
            <a:schemeClr val="tx2"/>
          </a:solidFill>
          <a:latin typeface="+mn-lt"/>
          <a:cs typeface="+mn-cs"/>
        </a:defRPr>
      </a:lvl3pPr>
      <a:lvl4pPr marL="968375" indent="-112713" algn="l" defTabSz="457200" rtl="0" eaLnBrk="0" fontAlgn="base" hangingPunct="0">
        <a:spcBef>
          <a:spcPct val="20000"/>
        </a:spcBef>
        <a:spcAft>
          <a:spcPct val="0"/>
        </a:spcAft>
        <a:buClr>
          <a:srgbClr val="ABD274"/>
        </a:buClr>
        <a:buFont typeface="Arial" charset="0"/>
        <a:buChar char="•"/>
        <a:defRPr sz="1000">
          <a:solidFill>
            <a:schemeClr val="tx2"/>
          </a:solidFill>
          <a:latin typeface="+mn-lt"/>
          <a:cs typeface="+mn-cs"/>
        </a:defRPr>
      </a:lvl4pPr>
      <a:lvl5pPr marL="1262063" indent="-122238" algn="l" defTabSz="457200" rtl="0" eaLnBrk="0" fontAlgn="base" hangingPunct="0">
        <a:spcBef>
          <a:spcPct val="20000"/>
        </a:spcBef>
        <a:spcAft>
          <a:spcPct val="0"/>
        </a:spcAft>
        <a:buClr>
          <a:srgbClr val="C5E09D"/>
        </a:buClr>
        <a:buFont typeface="Arial" charset="0"/>
        <a:buChar char="•"/>
        <a:defRPr sz="1000">
          <a:solidFill>
            <a:schemeClr val="tx2"/>
          </a:solidFill>
          <a:latin typeface="+mn-lt"/>
          <a:cs typeface="+mn-cs"/>
        </a:defRPr>
      </a:lvl5pPr>
      <a:lvl6pPr marL="1719263" indent="-122238" algn="l" defTabSz="457200" rtl="0" fontAlgn="base">
        <a:spcBef>
          <a:spcPct val="20000"/>
        </a:spcBef>
        <a:spcAft>
          <a:spcPct val="0"/>
        </a:spcAft>
        <a:buClr>
          <a:srgbClr val="C5E09D"/>
        </a:buClr>
        <a:buFont typeface="Arial" charset="0"/>
        <a:buChar char="•"/>
        <a:defRPr sz="1000">
          <a:solidFill>
            <a:schemeClr val="tx2"/>
          </a:solidFill>
          <a:latin typeface="+mn-lt"/>
          <a:cs typeface="+mn-cs"/>
        </a:defRPr>
      </a:lvl6pPr>
      <a:lvl7pPr marL="2176463" indent="-122238" algn="l" defTabSz="457200" rtl="0" fontAlgn="base">
        <a:spcBef>
          <a:spcPct val="20000"/>
        </a:spcBef>
        <a:spcAft>
          <a:spcPct val="0"/>
        </a:spcAft>
        <a:buClr>
          <a:srgbClr val="C5E09D"/>
        </a:buClr>
        <a:buFont typeface="Arial" charset="0"/>
        <a:buChar char="•"/>
        <a:defRPr sz="1000">
          <a:solidFill>
            <a:schemeClr val="tx2"/>
          </a:solidFill>
          <a:latin typeface="+mn-lt"/>
          <a:cs typeface="+mn-cs"/>
        </a:defRPr>
      </a:lvl7pPr>
      <a:lvl8pPr marL="2633663" indent="-122238" algn="l" defTabSz="457200" rtl="0" fontAlgn="base">
        <a:spcBef>
          <a:spcPct val="20000"/>
        </a:spcBef>
        <a:spcAft>
          <a:spcPct val="0"/>
        </a:spcAft>
        <a:buClr>
          <a:srgbClr val="C5E09D"/>
        </a:buClr>
        <a:buFont typeface="Arial" charset="0"/>
        <a:buChar char="•"/>
        <a:defRPr sz="1000">
          <a:solidFill>
            <a:schemeClr val="tx2"/>
          </a:solidFill>
          <a:latin typeface="+mn-lt"/>
          <a:cs typeface="+mn-cs"/>
        </a:defRPr>
      </a:lvl8pPr>
      <a:lvl9pPr marL="3090863" indent="-122238" algn="l" defTabSz="457200" rtl="0" fontAlgn="base">
        <a:spcBef>
          <a:spcPct val="20000"/>
        </a:spcBef>
        <a:spcAft>
          <a:spcPct val="0"/>
        </a:spcAft>
        <a:buClr>
          <a:srgbClr val="C5E09D"/>
        </a:buClr>
        <a:buFont typeface="Arial" charset="0"/>
        <a:buChar char="•"/>
        <a:defRPr sz="1000">
          <a:solidFill>
            <a:schemeClr val="tx2"/>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ctrTitle"/>
          </p:nvPr>
        </p:nvSpPr>
        <p:spPr>
          <a:xfrm>
            <a:off x="3581400" y="3657600"/>
            <a:ext cx="4876800" cy="1371601"/>
          </a:xfrm>
        </p:spPr>
        <p:txBody>
          <a:bodyPr>
            <a:normAutofit/>
          </a:bodyPr>
          <a:lstStyle/>
          <a:p>
            <a:pPr eaLnBrk="1" hangingPunct="1"/>
            <a:r>
              <a:rPr lang="en-US" dirty="0">
                <a:solidFill>
                  <a:srgbClr val="807F83"/>
                </a:solidFill>
                <a:latin typeface="Arial" charset="0"/>
                <a:cs typeface="Arial" charset="0"/>
              </a:rPr>
              <a:t>UNIX Profile 7.x Series w/GT.M Operations Training</a:t>
            </a:r>
            <a:br>
              <a:rPr lang="en-US" dirty="0">
                <a:solidFill>
                  <a:srgbClr val="807F83"/>
                </a:solidFill>
                <a:latin typeface="Arial" charset="0"/>
                <a:cs typeface="Arial" charset="0"/>
              </a:rPr>
            </a:br>
            <a:r>
              <a:rPr lang="en-US" dirty="0">
                <a:solidFill>
                  <a:srgbClr val="807F83"/>
                </a:solidFill>
                <a:latin typeface="Arial" charset="0"/>
                <a:cs typeface="Arial" charset="0"/>
              </a:rPr>
              <a:t>GT.</a:t>
            </a:r>
            <a:r>
              <a:rPr lang="en-US">
                <a:solidFill>
                  <a:srgbClr val="807F83"/>
                </a:solidFill>
                <a:latin typeface="Arial" charset="0"/>
                <a:cs typeface="Arial" charset="0"/>
              </a:rPr>
              <a:t>M Journaling</a:t>
            </a:r>
            <a:endParaRPr lang="en-US" dirty="0">
              <a:solidFill>
                <a:srgbClr val="807F83"/>
              </a:solidFill>
              <a:latin typeface="Arial" charset="0"/>
              <a:cs typeface="Arial" charset="0"/>
            </a:endParaRPr>
          </a:p>
        </p:txBody>
      </p:sp>
      <p:sp>
        <p:nvSpPr>
          <p:cNvPr id="18434" name="Subtitle 2"/>
          <p:cNvSpPr>
            <a:spLocks noGrp="1"/>
          </p:cNvSpPr>
          <p:nvPr>
            <p:ph type="subTitle" idx="1"/>
          </p:nvPr>
        </p:nvSpPr>
        <p:spPr>
          <a:xfrm>
            <a:off x="3581400" y="5326063"/>
            <a:ext cx="4876800" cy="1203325"/>
          </a:xfrm>
        </p:spPr>
        <p:txBody>
          <a:bodyPr/>
          <a:lstStyle/>
          <a:p>
            <a:pPr eaLnBrk="1" hangingPunct="1">
              <a:buClr>
                <a:srgbClr val="3E5C10"/>
              </a:buClr>
            </a:pPr>
            <a:r>
              <a:rPr lang="en-US" dirty="0">
                <a:solidFill>
                  <a:srgbClr val="4F6F19"/>
                </a:solidFill>
                <a:latin typeface="Arial" charset="0"/>
                <a:cs typeface="Arial" charset="0"/>
              </a:rPr>
              <a:t>Author: Richard Silvagni</a:t>
            </a:r>
            <a:r>
              <a:rPr lang="pl-PL" dirty="0">
                <a:solidFill>
                  <a:srgbClr val="4F6F19"/>
                </a:solidFill>
                <a:latin typeface="Arial" charset="0"/>
                <a:cs typeface="Arial" charset="0"/>
              </a:rPr>
              <a:t>; </a:t>
            </a:r>
            <a:r>
              <a:rPr lang="pl-PL" dirty="0" err="1">
                <a:solidFill>
                  <a:srgbClr val="4F6F19"/>
                </a:solidFill>
                <a:latin typeface="Arial" charset="0"/>
                <a:cs typeface="Arial" charset="0"/>
              </a:rPr>
              <a:t>Presenter</a:t>
            </a:r>
            <a:r>
              <a:rPr lang="pl-PL" dirty="0">
                <a:solidFill>
                  <a:srgbClr val="4F6F19"/>
                </a:solidFill>
                <a:latin typeface="Arial" charset="0"/>
                <a:cs typeface="Arial" charset="0"/>
              </a:rPr>
              <a:t>: Bartek Sztonyk</a:t>
            </a:r>
            <a:endParaRPr lang="en-US" dirty="0">
              <a:solidFill>
                <a:srgbClr val="4F6F19"/>
              </a:solidFill>
              <a:latin typeface="Arial" charset="0"/>
              <a:cs typeface="Arial" charset="0"/>
            </a:endParaRPr>
          </a:p>
          <a:p>
            <a:pPr eaLnBrk="1" hangingPunct="1">
              <a:buClr>
                <a:srgbClr val="3E5C10"/>
              </a:buClr>
            </a:pPr>
            <a:endParaRPr lang="en-US" dirty="0">
              <a:solidFill>
                <a:srgbClr val="4F6F19"/>
              </a:solidFill>
              <a:latin typeface="Arial" charset="0"/>
              <a:cs typeface="Arial" charset="0"/>
            </a:endParaRPr>
          </a:p>
          <a:p>
            <a:pPr eaLnBrk="1" hangingPunct="1">
              <a:buClr>
                <a:srgbClr val="3E5C10"/>
              </a:buClr>
            </a:pPr>
            <a:r>
              <a:rPr lang="en-US" dirty="0">
                <a:solidFill>
                  <a:srgbClr val="4F6F19"/>
                </a:solidFill>
                <a:latin typeface="Arial" charset="0"/>
                <a:cs typeface="Arial" charset="0"/>
              </a:rPr>
              <a:t>Version 1.1 : 05-NOV-2024</a:t>
            </a:r>
          </a:p>
          <a:p>
            <a:pPr eaLnBrk="1" hangingPunct="1">
              <a:buClr>
                <a:srgbClr val="3E5C10"/>
              </a:buClr>
            </a:pPr>
            <a:endParaRPr lang="en-US" dirty="0">
              <a:solidFill>
                <a:srgbClr val="4F6F19"/>
              </a:solidFill>
              <a:latin typeface="Arial" charset="0"/>
              <a:cs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Rectangle 18">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 name="Title 2">
            <a:extLst>
              <a:ext uri="{FF2B5EF4-FFF2-40B4-BE49-F238E27FC236}">
                <a16:creationId xmlns:a16="http://schemas.microsoft.com/office/drawing/2014/main" id="{44A0A1F7-0774-2B20-51A6-8F6CB8DCC579}"/>
              </a:ext>
            </a:extLst>
          </p:cNvPr>
          <p:cNvSpPr>
            <a:spLocks noGrp="1"/>
          </p:cNvSpPr>
          <p:nvPr>
            <p:ph type="title"/>
          </p:nvPr>
        </p:nvSpPr>
        <p:spPr>
          <a:xfrm>
            <a:off x="718879" y="800392"/>
            <a:ext cx="7698523" cy="1212102"/>
          </a:xfrm>
        </p:spPr>
        <p:txBody>
          <a:bodyPr>
            <a:normAutofit/>
          </a:bodyPr>
          <a:lstStyle/>
          <a:p>
            <a:r>
              <a:rPr lang="en-US" sz="3500" dirty="0">
                <a:solidFill>
                  <a:srgbClr val="FFFFFF"/>
                </a:solidFill>
              </a:rPr>
              <a:t>GT.M Journaling Discussion</a:t>
            </a:r>
          </a:p>
        </p:txBody>
      </p:sp>
      <p:sp>
        <p:nvSpPr>
          <p:cNvPr id="4" name="Content Placeholder 3">
            <a:extLst>
              <a:ext uri="{FF2B5EF4-FFF2-40B4-BE49-F238E27FC236}">
                <a16:creationId xmlns:a16="http://schemas.microsoft.com/office/drawing/2014/main" id="{5C0FFD37-06F1-08E4-3CFC-5530C26E2078}"/>
              </a:ext>
            </a:extLst>
          </p:cNvPr>
          <p:cNvSpPr>
            <a:spLocks noGrp="1"/>
          </p:cNvSpPr>
          <p:nvPr>
            <p:ph idx="1"/>
          </p:nvPr>
        </p:nvSpPr>
        <p:spPr>
          <a:xfrm>
            <a:off x="1025718" y="2490436"/>
            <a:ext cx="7281746" cy="3567173"/>
          </a:xfrm>
        </p:spPr>
        <p:txBody>
          <a:bodyPr anchor="ctr">
            <a:normAutofit/>
          </a:bodyPr>
          <a:lstStyle/>
          <a:p>
            <a:r>
              <a:rPr lang="en-US" sz="2100" dirty="0"/>
              <a:t>Concepts</a:t>
            </a:r>
          </a:p>
          <a:p>
            <a:r>
              <a:rPr lang="en-US" sz="2100" dirty="0"/>
              <a:t>Commands</a:t>
            </a:r>
          </a:p>
          <a:p>
            <a:r>
              <a:rPr lang="en-US" sz="2100" dirty="0"/>
              <a:t>Procedures</a:t>
            </a:r>
          </a:p>
          <a:p>
            <a:r>
              <a:rPr lang="en-US" sz="2200" dirty="0"/>
              <a:t>Reference Material - </a:t>
            </a:r>
            <a:r>
              <a:rPr lang="en-US" sz="2100" i="1" dirty="0"/>
              <a:t>GT.M Administration and Operations Guide : Chapter 6 : GT.M Journaling</a:t>
            </a:r>
          </a:p>
        </p:txBody>
      </p:sp>
      <p:sp>
        <p:nvSpPr>
          <p:cNvPr id="2" name="Slide Number Placeholder 1">
            <a:extLst>
              <a:ext uri="{FF2B5EF4-FFF2-40B4-BE49-F238E27FC236}">
                <a16:creationId xmlns:a16="http://schemas.microsoft.com/office/drawing/2014/main" id="{5E66C234-E561-9DC7-D477-829A05467B89}"/>
              </a:ext>
            </a:extLst>
          </p:cNvPr>
          <p:cNvSpPr>
            <a:spLocks noGrp="1"/>
          </p:cNvSpPr>
          <p:nvPr>
            <p:ph type="sldNum" sz="quarter" idx="10"/>
          </p:nvPr>
        </p:nvSpPr>
        <p:spPr>
          <a:xfrm>
            <a:off x="8030718" y="6382512"/>
            <a:ext cx="514350" cy="320040"/>
          </a:xfrm>
        </p:spPr>
        <p:txBody>
          <a:bodyPr>
            <a:normAutofit/>
          </a:bodyPr>
          <a:lstStyle/>
          <a:p>
            <a:pPr>
              <a:spcAft>
                <a:spcPts val="600"/>
              </a:spcAft>
              <a:defRPr/>
            </a:pPr>
            <a:fld id="{06026205-6A47-4038-B160-43246DDA1ED5}" type="slidenum">
              <a:rPr lang="en-US" smtClean="0"/>
              <a:pPr>
                <a:spcAft>
                  <a:spcPts val="600"/>
                </a:spcAft>
                <a:defRPr/>
              </a:pPr>
              <a:t>2</a:t>
            </a:fld>
            <a:endParaRPr lang="en-US"/>
          </a:p>
        </p:txBody>
      </p:sp>
    </p:spTree>
    <p:extLst>
      <p:ext uri="{BB962C8B-B14F-4D97-AF65-F5344CB8AC3E}">
        <p14:creationId xmlns:p14="http://schemas.microsoft.com/office/powerpoint/2010/main" val="1797635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DFA46-59E5-A579-1D92-F97709207781}"/>
              </a:ext>
            </a:extLst>
          </p:cNvPr>
          <p:cNvSpPr>
            <a:spLocks noGrp="1"/>
          </p:cNvSpPr>
          <p:nvPr>
            <p:ph type="title"/>
          </p:nvPr>
        </p:nvSpPr>
        <p:spPr/>
        <p:txBody>
          <a:bodyPr/>
          <a:lstStyle/>
          <a:p>
            <a:r>
              <a:rPr lang="en-US" dirty="0"/>
              <a:t>GT.M Journaling</a:t>
            </a:r>
          </a:p>
        </p:txBody>
      </p:sp>
      <p:sp>
        <p:nvSpPr>
          <p:cNvPr id="3" name="Content Placeholder 2">
            <a:extLst>
              <a:ext uri="{FF2B5EF4-FFF2-40B4-BE49-F238E27FC236}">
                <a16:creationId xmlns:a16="http://schemas.microsoft.com/office/drawing/2014/main" id="{AF3E7946-020A-4390-DB04-E47DFF4717B6}"/>
              </a:ext>
            </a:extLst>
          </p:cNvPr>
          <p:cNvSpPr>
            <a:spLocks noGrp="1"/>
          </p:cNvSpPr>
          <p:nvPr>
            <p:ph idx="1"/>
          </p:nvPr>
        </p:nvSpPr>
        <p:spPr/>
        <p:txBody>
          <a:bodyPr/>
          <a:lstStyle/>
          <a:p>
            <a:r>
              <a:rPr lang="en-US" dirty="0"/>
              <a:t>The four key properties of transaction processing systems, the "ACID" properties are: Atomicity, Consistency, Isolation, and Durability. GT.M transaction processing provides the first three by means of the </a:t>
            </a:r>
            <a:r>
              <a:rPr lang="en-US" dirty="0" err="1"/>
              <a:t>TStart</a:t>
            </a:r>
            <a:r>
              <a:rPr lang="en-US" dirty="0"/>
              <a:t> and </a:t>
            </a:r>
            <a:r>
              <a:rPr lang="en-US" dirty="0" err="1"/>
              <a:t>TCommit</a:t>
            </a:r>
            <a:r>
              <a:rPr lang="en-US" dirty="0"/>
              <a:t> commands and Durability through journaling.</a:t>
            </a:r>
          </a:p>
          <a:p>
            <a:endParaRPr lang="en-US" dirty="0"/>
          </a:p>
          <a:p>
            <a:r>
              <a:rPr lang="en-US" dirty="0"/>
              <a:t>GT.M, like virtually all high-performance databases, uses journaling (called "logging" by some databases) to restore data integrity and provide continuity of business after an unplanned event such as a system crash.</a:t>
            </a:r>
          </a:p>
          <a:p>
            <a:endParaRPr lang="en-US" dirty="0"/>
          </a:p>
          <a:p>
            <a:r>
              <a:rPr lang="en-US" dirty="0"/>
              <a:t>Note that, journaling is not a substitute for good system configuration and design. For example, if a database and its journal files are on the same disk controller, a hardware failure on that controller can damage both files and prevent recoverability. Journaling complements other techniques to build a robust system.</a:t>
            </a:r>
          </a:p>
          <a:p>
            <a:endParaRPr lang="en-US" dirty="0"/>
          </a:p>
        </p:txBody>
      </p:sp>
      <p:sp>
        <p:nvSpPr>
          <p:cNvPr id="4" name="Slide Number Placeholder 3">
            <a:extLst>
              <a:ext uri="{FF2B5EF4-FFF2-40B4-BE49-F238E27FC236}">
                <a16:creationId xmlns:a16="http://schemas.microsoft.com/office/drawing/2014/main" id="{3B72E15D-48F6-3ABE-C505-E3D9699917E2}"/>
              </a:ext>
            </a:extLst>
          </p:cNvPr>
          <p:cNvSpPr>
            <a:spLocks noGrp="1"/>
          </p:cNvSpPr>
          <p:nvPr>
            <p:ph type="sldNum" sz="quarter" idx="10"/>
          </p:nvPr>
        </p:nvSpPr>
        <p:spPr/>
        <p:txBody>
          <a:bodyPr/>
          <a:lstStyle/>
          <a:p>
            <a:pPr>
              <a:defRPr/>
            </a:pPr>
            <a:fld id="{3AD1BE0A-9D7F-468C-B599-8AB35EA99D95}" type="slidenum">
              <a:rPr lang="en-US" smtClean="0"/>
              <a:pPr>
                <a:defRPr/>
              </a:pPr>
              <a:t>3</a:t>
            </a:fld>
            <a:endParaRPr lang="en-US"/>
          </a:p>
        </p:txBody>
      </p:sp>
    </p:spTree>
    <p:extLst>
      <p:ext uri="{BB962C8B-B14F-4D97-AF65-F5344CB8AC3E}">
        <p14:creationId xmlns:p14="http://schemas.microsoft.com/office/powerpoint/2010/main" val="3170819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F65BD-CB7C-9CE6-8B4C-7C7D56EC9352}"/>
              </a:ext>
            </a:extLst>
          </p:cNvPr>
          <p:cNvSpPr>
            <a:spLocks noGrp="1"/>
          </p:cNvSpPr>
          <p:nvPr>
            <p:ph type="title"/>
          </p:nvPr>
        </p:nvSpPr>
        <p:spPr/>
        <p:txBody>
          <a:bodyPr/>
          <a:lstStyle/>
          <a:p>
            <a:r>
              <a:rPr lang="en-US" dirty="0"/>
              <a:t>GT.M Journaling</a:t>
            </a:r>
          </a:p>
        </p:txBody>
      </p:sp>
      <p:sp>
        <p:nvSpPr>
          <p:cNvPr id="3" name="Content Placeholder 2">
            <a:extLst>
              <a:ext uri="{FF2B5EF4-FFF2-40B4-BE49-F238E27FC236}">
                <a16:creationId xmlns:a16="http://schemas.microsoft.com/office/drawing/2014/main" id="{D126E230-BB81-81D5-5CBB-73728F491136}"/>
              </a:ext>
            </a:extLst>
          </p:cNvPr>
          <p:cNvSpPr>
            <a:spLocks noGrp="1"/>
          </p:cNvSpPr>
          <p:nvPr>
            <p:ph idx="1"/>
          </p:nvPr>
        </p:nvSpPr>
        <p:spPr/>
        <p:txBody>
          <a:bodyPr/>
          <a:lstStyle/>
          <a:p>
            <a:r>
              <a:rPr lang="en-US" dirty="0"/>
              <a:t>GT.M journaling uses journal files to record information pertaining to database updates. A journal file has a default extension of mjl. If the new journal filename (the one specified in the FILENAME option or the default) already exists, GT.M renames the existing journal file by </a:t>
            </a:r>
            <a:r>
              <a:rPr lang="en-US" u="sng" dirty="0"/>
              <a:t>appending a string that denotes the time of creation of the journal file</a:t>
            </a:r>
            <a:r>
              <a:rPr lang="en-US" dirty="0"/>
              <a:t> in the form of "_YYYYJJJHHMMSS" where:</a:t>
            </a:r>
          </a:p>
          <a:p>
            <a:pPr lvl="1"/>
            <a:r>
              <a:rPr lang="en-US" dirty="0"/>
              <a:t>YYYY	4-digit-year                                    	such as 2010 </a:t>
            </a:r>
          </a:p>
          <a:p>
            <a:pPr lvl="1"/>
            <a:r>
              <a:rPr lang="en-US" dirty="0"/>
              <a:t>JJJ		3-digit-Julian-day (between 1 and 366) 	such as 199 </a:t>
            </a:r>
          </a:p>
          <a:p>
            <a:pPr lvl="1"/>
            <a:r>
              <a:rPr lang="en-US" dirty="0"/>
              <a:t>HH		2-digit-hour in 24 </a:t>
            </a:r>
            <a:r>
              <a:rPr lang="en-US" dirty="0" err="1"/>
              <a:t>hr</a:t>
            </a:r>
            <a:r>
              <a:rPr lang="en-US" dirty="0"/>
              <a:t> format                    	such as 14 </a:t>
            </a:r>
          </a:p>
          <a:p>
            <a:pPr lvl="1"/>
            <a:r>
              <a:rPr lang="en-US" dirty="0"/>
              <a:t>MM		2-digit minute                                  	such as 40 </a:t>
            </a:r>
          </a:p>
          <a:p>
            <a:pPr lvl="1"/>
            <a:r>
              <a:rPr lang="en-US" dirty="0"/>
              <a:t>SS		2-digit seconds                                 	such as 30</a:t>
            </a:r>
          </a:p>
        </p:txBody>
      </p:sp>
      <p:sp>
        <p:nvSpPr>
          <p:cNvPr id="4" name="Slide Number Placeholder 3">
            <a:extLst>
              <a:ext uri="{FF2B5EF4-FFF2-40B4-BE49-F238E27FC236}">
                <a16:creationId xmlns:a16="http://schemas.microsoft.com/office/drawing/2014/main" id="{A694D355-FF15-6309-76A3-F312331AA7C8}"/>
              </a:ext>
            </a:extLst>
          </p:cNvPr>
          <p:cNvSpPr>
            <a:spLocks noGrp="1"/>
          </p:cNvSpPr>
          <p:nvPr>
            <p:ph type="sldNum" sz="quarter" idx="10"/>
          </p:nvPr>
        </p:nvSpPr>
        <p:spPr/>
        <p:txBody>
          <a:bodyPr/>
          <a:lstStyle/>
          <a:p>
            <a:pPr>
              <a:defRPr/>
            </a:pPr>
            <a:fld id="{3AD1BE0A-9D7F-468C-B599-8AB35EA99D95}" type="slidenum">
              <a:rPr lang="en-US" smtClean="0"/>
              <a:pPr>
                <a:defRPr/>
              </a:pPr>
              <a:t>4</a:t>
            </a:fld>
            <a:endParaRPr lang="en-US"/>
          </a:p>
        </p:txBody>
      </p:sp>
      <p:pic>
        <p:nvPicPr>
          <p:cNvPr id="6" name="Picture 2">
            <a:extLst>
              <a:ext uri="{FF2B5EF4-FFF2-40B4-BE49-F238E27FC236}">
                <a16:creationId xmlns:a16="http://schemas.microsoft.com/office/drawing/2014/main" id="{C47F90A8-A58D-05A6-4D90-94C6705D6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7250" y="3505200"/>
            <a:ext cx="7353300" cy="26670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708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GT.M Journaling</a:t>
            </a:r>
          </a:p>
        </p:txBody>
      </p:sp>
      <p:sp>
        <p:nvSpPr>
          <p:cNvPr id="3" name="Content Placeholder 2"/>
          <p:cNvSpPr>
            <a:spLocks noGrp="1"/>
          </p:cNvSpPr>
          <p:nvPr>
            <p:ph idx="1"/>
          </p:nvPr>
        </p:nvSpPr>
        <p:spPr/>
        <p:txBody>
          <a:bodyPr/>
          <a:lstStyle/>
          <a:p>
            <a:r>
              <a:rPr lang="en-US" dirty="0"/>
              <a:t>Types of Journaling Provided by GT.M</a:t>
            </a:r>
          </a:p>
          <a:p>
            <a:pPr lvl="1"/>
            <a:r>
              <a:rPr lang="en-US" dirty="0"/>
              <a:t>Before Image Journaling [BEFORE]</a:t>
            </a:r>
          </a:p>
          <a:p>
            <a:pPr lvl="2"/>
            <a:r>
              <a:rPr lang="en-US" dirty="0"/>
              <a:t>Writes the blocks before the update</a:t>
            </a:r>
          </a:p>
          <a:p>
            <a:pPr lvl="2"/>
            <a:r>
              <a:rPr lang="en-US" dirty="0"/>
              <a:t>Writes the updates</a:t>
            </a:r>
          </a:p>
          <a:p>
            <a:pPr lvl="2"/>
            <a:r>
              <a:rPr lang="en-US" dirty="0"/>
              <a:t>Has at least twice the IO footprint that M level</a:t>
            </a:r>
          </a:p>
          <a:p>
            <a:pPr lvl="2"/>
            <a:r>
              <a:rPr lang="en-US" dirty="0"/>
              <a:t>Allows for a backward recovery to a point in time</a:t>
            </a:r>
          </a:p>
          <a:p>
            <a:pPr lvl="2"/>
            <a:r>
              <a:rPr lang="en-US" dirty="0"/>
              <a:t>Files can grow extremely large when performing a MUPIP REORG</a:t>
            </a:r>
          </a:p>
          <a:p>
            <a:pPr lvl="1"/>
            <a:r>
              <a:rPr lang="en-US" dirty="0"/>
              <a:t>M Level Journaling [NOBEFORE]</a:t>
            </a:r>
          </a:p>
          <a:p>
            <a:pPr lvl="2"/>
            <a:r>
              <a:rPr lang="en-US" dirty="0"/>
              <a:t>Writes only the updates</a:t>
            </a:r>
          </a:p>
          <a:p>
            <a:pPr lvl="2"/>
            <a:r>
              <a:rPr lang="en-US" dirty="0"/>
              <a:t>M Level journaling requires a restore before recovering</a:t>
            </a:r>
          </a:p>
          <a:p>
            <a:pPr lvl="2"/>
            <a:r>
              <a:rPr lang="en-US" dirty="0"/>
              <a:t>Recovery time is then dependent on how much work has been performed since the backup used for recovery.</a:t>
            </a:r>
          </a:p>
          <a:p>
            <a:r>
              <a:rPr lang="en-US" dirty="0"/>
              <a:t>FIS Operations suggests Before image journaling for all Highly available Profile instances.</a:t>
            </a:r>
          </a:p>
          <a:p>
            <a:endParaRPr lang="en-US" dirty="0"/>
          </a:p>
          <a:p>
            <a:r>
              <a:rPr lang="en-US" dirty="0"/>
              <a:t>Database Characteristics regarding journaling</a:t>
            </a:r>
          </a:p>
          <a:p>
            <a:pPr>
              <a:buNone/>
            </a:pPr>
            <a:r>
              <a:rPr lang="en-US" sz="1200" dirty="0">
                <a:latin typeface="Courier New" pitchFamily="49" charset="0"/>
                <a:cs typeface="Courier New" pitchFamily="49" charset="0"/>
              </a:rPr>
              <a:t>  Journal State               [inactive] ON  Journal Before imaging        TRUE</a:t>
            </a:r>
          </a:p>
          <a:p>
            <a:pPr>
              <a:buNone/>
            </a:pPr>
            <a:r>
              <a:rPr lang="en-US" sz="1200" dirty="0">
                <a:latin typeface="Courier New" pitchFamily="49" charset="0"/>
                <a:cs typeface="Courier New" pitchFamily="49" charset="0"/>
              </a:rPr>
              <a:t>  Journal Allocation                2097152  Journal Extension            10000</a:t>
            </a:r>
          </a:p>
          <a:p>
            <a:pPr>
              <a:buNone/>
            </a:pPr>
            <a:r>
              <a:rPr lang="en-US" sz="1200" dirty="0">
                <a:latin typeface="Courier New" pitchFamily="49" charset="0"/>
                <a:cs typeface="Courier New" pitchFamily="49" charset="0"/>
              </a:rPr>
              <a:t>  Journal Buffer Size                  3000  Journal </a:t>
            </a:r>
            <a:r>
              <a:rPr lang="en-US" sz="1200" dirty="0" err="1">
                <a:latin typeface="Courier New" pitchFamily="49" charset="0"/>
                <a:cs typeface="Courier New" pitchFamily="49" charset="0"/>
              </a:rPr>
              <a:t>Alignsize</a:t>
            </a:r>
            <a:r>
              <a:rPr lang="en-US" sz="1200" dirty="0">
                <a:latin typeface="Courier New" pitchFamily="49" charset="0"/>
                <a:cs typeface="Courier New" pitchFamily="49" charset="0"/>
              </a:rPr>
              <a:t>             4096</a:t>
            </a:r>
          </a:p>
          <a:p>
            <a:pPr>
              <a:buNone/>
            </a:pPr>
            <a:r>
              <a:rPr lang="en-US" sz="1200" dirty="0">
                <a:latin typeface="Courier New" pitchFamily="49" charset="0"/>
                <a:cs typeface="Courier New" pitchFamily="49" charset="0"/>
              </a:rPr>
              <a:t>  Journal </a:t>
            </a:r>
            <a:r>
              <a:rPr lang="en-US" sz="1200" dirty="0" err="1">
                <a:latin typeface="Courier New" pitchFamily="49" charset="0"/>
                <a:cs typeface="Courier New" pitchFamily="49" charset="0"/>
              </a:rPr>
              <a:t>AutoSwitchLimit</a:t>
            </a:r>
            <a:r>
              <a:rPr lang="en-US" sz="1200" dirty="0">
                <a:latin typeface="Courier New" pitchFamily="49" charset="0"/>
                <a:cs typeface="Courier New" pitchFamily="49" charset="0"/>
              </a:rPr>
              <a:t>           2097152  Journal Epoch Interval         300</a:t>
            </a:r>
          </a:p>
          <a:p>
            <a:pPr>
              <a:buNone/>
            </a:pPr>
            <a:r>
              <a:rPr lang="en-US" sz="1200" dirty="0">
                <a:latin typeface="Courier New" pitchFamily="49" charset="0"/>
                <a:cs typeface="Courier New" pitchFamily="49" charset="0"/>
              </a:rPr>
              <a:t>  Journal Yield Limit                     8  Journal Sync IO              FALSE</a:t>
            </a:r>
          </a:p>
          <a:p>
            <a:pPr>
              <a:buNone/>
            </a:pPr>
            <a:r>
              <a:rPr lang="en-US" sz="1200" dirty="0">
                <a:latin typeface="Courier New" pitchFamily="49" charset="0"/>
                <a:cs typeface="Courier New" pitchFamily="49" charset="0"/>
              </a:rPr>
              <a:t>  Journal File: /</a:t>
            </a:r>
            <a:r>
              <a:rPr lang="en-US" sz="1200" dirty="0" err="1">
                <a:latin typeface="Courier New" pitchFamily="49" charset="0"/>
                <a:cs typeface="Courier New" pitchFamily="49" charset="0"/>
              </a:rPr>
              <a:t>ibsprod</a:t>
            </a:r>
            <a:r>
              <a:rPr lang="en-US" sz="1200" dirty="0">
                <a:latin typeface="Courier New" pitchFamily="49" charset="0"/>
                <a:cs typeface="Courier New" pitchFamily="49" charset="0"/>
              </a:rPr>
              <a:t>/gbls/journal/</a:t>
            </a:r>
            <a:r>
              <a:rPr lang="en-US" sz="1200" dirty="0" err="1">
                <a:latin typeface="Courier New" pitchFamily="49" charset="0"/>
                <a:cs typeface="Courier New" pitchFamily="49" charset="0"/>
              </a:rPr>
              <a:t>ubg.mjl</a:t>
            </a:r>
            <a:endParaRPr lang="en-US" sz="1200" dirty="0">
              <a:latin typeface="Courier New" pitchFamily="49" charset="0"/>
              <a:cs typeface="Courier New" pitchFamily="49" charset="0"/>
            </a:endParaRPr>
          </a:p>
          <a:p>
            <a:endParaRPr kumimoji="0" lang="en-US" sz="1400" b="0" i="0" u="none" strike="noStrike" kern="1200" cap="none" spc="0" normalizeH="0" baseline="0" noProof="0" dirty="0">
              <a:ln>
                <a:noFill/>
              </a:ln>
              <a:solidFill>
                <a:srgbClr val="262626"/>
              </a:solidFill>
              <a:effectLst/>
              <a:uLnTx/>
              <a:uFillTx/>
              <a:latin typeface="Arial"/>
              <a:ea typeface="+mn-ea"/>
              <a:cs typeface="Arial"/>
            </a:endParaRPr>
          </a:p>
          <a:p>
            <a:r>
              <a:rPr kumimoji="0" lang="en-US" sz="1400" b="0" i="0" u="none" strike="noStrike" kern="1200" cap="none" spc="0" normalizeH="0" baseline="0" noProof="0" dirty="0">
                <a:ln>
                  <a:noFill/>
                </a:ln>
                <a:solidFill>
                  <a:srgbClr val="262626"/>
                </a:solidFill>
                <a:effectLst/>
                <a:uLnTx/>
                <a:uFillTx/>
                <a:latin typeface="Arial"/>
                <a:ea typeface="+mn-ea"/>
                <a:cs typeface="Arial"/>
              </a:rPr>
              <a:t>Journal block sizes are in multiples of 512 bytes – so 2,097,152 is 1Gb (1,073,741,824)</a:t>
            </a:r>
            <a:endParaRPr lang="en-US" sz="1200" dirty="0">
              <a:latin typeface="Courier New" pitchFamily="49" charset="0"/>
              <a:cs typeface="Courier New" pitchFamily="49" charset="0"/>
            </a:endParaRPr>
          </a:p>
        </p:txBody>
      </p:sp>
      <p:sp>
        <p:nvSpPr>
          <p:cNvPr id="4" name="Slide Number Placeholder 3"/>
          <p:cNvSpPr>
            <a:spLocks noGrp="1"/>
          </p:cNvSpPr>
          <p:nvPr>
            <p:ph type="sldNum" sz="quarter" idx="10"/>
          </p:nvPr>
        </p:nvSpPr>
        <p:spPr/>
        <p:txBody>
          <a:bodyPr/>
          <a:lstStyle/>
          <a:p>
            <a:fld id="{6EF4D2D5-8D6E-4623-930F-51CDEFA394B9}"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GT.M Journaling</a:t>
            </a:r>
          </a:p>
        </p:txBody>
      </p:sp>
      <p:sp>
        <p:nvSpPr>
          <p:cNvPr id="3" name="Content Placeholder 2"/>
          <p:cNvSpPr>
            <a:spLocks noGrp="1"/>
          </p:cNvSpPr>
          <p:nvPr>
            <p:ph idx="1"/>
          </p:nvPr>
        </p:nvSpPr>
        <p:spPr/>
        <p:txBody>
          <a:bodyPr/>
          <a:lstStyle/>
          <a:p>
            <a:r>
              <a:rPr lang="en-US" dirty="0"/>
              <a:t>Configuring Journal files</a:t>
            </a:r>
          </a:p>
          <a:p>
            <a:pPr lvl="1"/>
            <a:r>
              <a:rPr lang="en-US" dirty="0"/>
              <a:t>Basic Journaling characters can be updated in a global directory file for a MUPIP CREATE or via shell scripts.</a:t>
            </a:r>
          </a:p>
          <a:p>
            <a:pPr lvl="2"/>
            <a:r>
              <a:rPr lang="en-US" dirty="0"/>
              <a:t>Can be updated with online activity.</a:t>
            </a:r>
          </a:p>
          <a:p>
            <a:pPr lvl="1"/>
            <a:r>
              <a:rPr lang="en-US" dirty="0"/>
              <a:t>Journal files grow based upon updates and not database file size. </a:t>
            </a:r>
          </a:p>
          <a:p>
            <a:pPr lvl="1"/>
            <a:r>
              <a:rPr lang="en-US" dirty="0"/>
              <a:t>Determine type of journaling</a:t>
            </a:r>
          </a:p>
          <a:p>
            <a:pPr lvl="2"/>
            <a:r>
              <a:rPr lang="en-US" dirty="0"/>
              <a:t>FIS recommends before image for production environments</a:t>
            </a:r>
          </a:p>
          <a:p>
            <a:pPr lvl="1"/>
            <a:r>
              <a:rPr lang="en-US" dirty="0"/>
              <a:t>Determine journal file allocations</a:t>
            </a:r>
          </a:p>
          <a:p>
            <a:pPr lvl="2"/>
            <a:r>
              <a:rPr lang="en-US" dirty="0"/>
              <a:t>FIS recommends allocating files 2GB in size (allocation - 4,194,304)</a:t>
            </a:r>
          </a:p>
          <a:p>
            <a:pPr lvl="1"/>
            <a:r>
              <a:rPr lang="en-US" dirty="0"/>
              <a:t>Determine journal file location</a:t>
            </a:r>
          </a:p>
          <a:p>
            <a:pPr lvl="2"/>
            <a:r>
              <a:rPr lang="en-US" dirty="0"/>
              <a:t>FIS highly suggests placing journal files on separate disks, controllers, etc than database files for both performance and recovery reasons.</a:t>
            </a:r>
          </a:p>
          <a:p>
            <a:endParaRPr lang="en-US" dirty="0"/>
          </a:p>
          <a:p>
            <a:r>
              <a:rPr lang="en-US" dirty="0"/>
              <a:t>FIS Operations has taken the approach to manage journaling characteristics via UNIX shell scripts instead of the global directory file approach</a:t>
            </a:r>
          </a:p>
          <a:p>
            <a:pPr lvl="1"/>
            <a:r>
              <a:rPr lang="en-US" dirty="0"/>
              <a:t>If managed via the global directory file every update for journaling would need to be an update to the global directory file followed by a </a:t>
            </a:r>
            <a:r>
              <a:rPr lang="en-US" dirty="0" err="1"/>
              <a:t>mupip</a:t>
            </a:r>
            <a:r>
              <a:rPr lang="en-US" dirty="0"/>
              <a:t> set command anyway.</a:t>
            </a:r>
          </a:p>
          <a:p>
            <a:pPr lvl="2"/>
            <a:r>
              <a:rPr lang="en-US" dirty="0"/>
              <a:t>Remember – only MUPIP CREATE transfers characteristics from a gld file to a database file.</a:t>
            </a:r>
          </a:p>
          <a:p>
            <a:pPr lvl="1"/>
            <a:r>
              <a:rPr lang="en-US" dirty="0"/>
              <a:t>Copy from /SCA/tools/</a:t>
            </a:r>
            <a:r>
              <a:rPr lang="en-US" dirty="0" err="1"/>
              <a:t>misc</a:t>
            </a:r>
            <a:r>
              <a:rPr lang="en-US" dirty="0"/>
              <a:t>/</a:t>
            </a:r>
            <a:r>
              <a:rPr lang="en-US" dirty="0" err="1"/>
              <a:t>journal_on</a:t>
            </a:r>
            <a:r>
              <a:rPr lang="en-US" dirty="0"/>
              <a:t>, </a:t>
            </a:r>
            <a:r>
              <a:rPr lang="en-US" dirty="0" err="1"/>
              <a:t>journal_off</a:t>
            </a:r>
            <a:r>
              <a:rPr lang="en-US" dirty="0"/>
              <a:t>, and </a:t>
            </a:r>
            <a:r>
              <a:rPr lang="en-US" dirty="0" err="1"/>
              <a:t>journal_switch</a:t>
            </a:r>
            <a:r>
              <a:rPr lang="en-US" dirty="0"/>
              <a:t> to the FIS Profile ./scripts subdirectory.</a:t>
            </a:r>
          </a:p>
          <a:p>
            <a:pPr lvl="2"/>
            <a:r>
              <a:rPr lang="en-US" dirty="0"/>
              <a:t>Modify as needed</a:t>
            </a:r>
          </a:p>
          <a:p>
            <a:pPr lvl="1"/>
            <a:r>
              <a:rPr lang="en-US" dirty="0"/>
              <a:t>NOTE – If using LMS copy /SCA/tools/replication/</a:t>
            </a:r>
            <a:r>
              <a:rPr lang="en-US" dirty="0" err="1"/>
              <a:t>replication_on</a:t>
            </a:r>
            <a:r>
              <a:rPr lang="en-US" dirty="0"/>
              <a:t> and </a:t>
            </a:r>
            <a:r>
              <a:rPr lang="en-US" dirty="0" err="1"/>
              <a:t>replication_off</a:t>
            </a:r>
            <a:endParaRPr lang="en-US" dirty="0"/>
          </a:p>
          <a:p>
            <a:pPr lvl="2"/>
            <a:r>
              <a:rPr lang="en-US" dirty="0"/>
              <a:t>Modify as needed</a:t>
            </a:r>
          </a:p>
          <a:p>
            <a:pPr lvl="1"/>
            <a:endParaRPr lang="en-US" dirty="0"/>
          </a:p>
          <a:p>
            <a:pPr lvl="1"/>
            <a:endParaRPr lang="en-US" dirty="0"/>
          </a:p>
          <a:p>
            <a:pPr lvl="2"/>
            <a:endParaRPr lang="en-US" dirty="0"/>
          </a:p>
        </p:txBody>
      </p:sp>
      <p:sp>
        <p:nvSpPr>
          <p:cNvPr id="4" name="Slide Number Placeholder 3"/>
          <p:cNvSpPr>
            <a:spLocks noGrp="1"/>
          </p:cNvSpPr>
          <p:nvPr>
            <p:ph type="sldNum" sz="quarter" idx="10"/>
          </p:nvPr>
        </p:nvSpPr>
        <p:spPr/>
        <p:txBody>
          <a:bodyPr/>
          <a:lstStyle/>
          <a:p>
            <a:fld id="{6EF4D2D5-8D6E-4623-930F-51CDEFA394B9}"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10EC5-1AA1-4F98-19C2-2E6BA3531B8D}"/>
              </a:ext>
            </a:extLst>
          </p:cNvPr>
          <p:cNvSpPr>
            <a:spLocks noGrp="1"/>
          </p:cNvSpPr>
          <p:nvPr>
            <p:ph type="title"/>
          </p:nvPr>
        </p:nvSpPr>
        <p:spPr/>
        <p:txBody>
          <a:bodyPr/>
          <a:lstStyle/>
          <a:p>
            <a:r>
              <a:rPr lang="en-US" dirty="0"/>
              <a:t>GT.M Journaling – MUPIP SET </a:t>
            </a:r>
            <a:br>
              <a:rPr lang="en-US" dirty="0"/>
            </a:br>
            <a:r>
              <a:rPr lang="en-US" dirty="0"/>
              <a:t>-JOURNAL Qualifiers</a:t>
            </a:r>
          </a:p>
        </p:txBody>
      </p:sp>
      <p:sp>
        <p:nvSpPr>
          <p:cNvPr id="3" name="Content Placeholder 2">
            <a:extLst>
              <a:ext uri="{FF2B5EF4-FFF2-40B4-BE49-F238E27FC236}">
                <a16:creationId xmlns:a16="http://schemas.microsoft.com/office/drawing/2014/main" id="{6C30B33D-25D2-7C02-6D0A-9A324D6FD8B8}"/>
              </a:ext>
            </a:extLst>
          </p:cNvPr>
          <p:cNvSpPr>
            <a:spLocks noGrp="1"/>
          </p:cNvSpPr>
          <p:nvPr>
            <p:ph idx="1"/>
          </p:nvPr>
        </p:nvSpPr>
        <p:spPr/>
        <p:txBody>
          <a:bodyPr/>
          <a:lstStyle/>
          <a:p>
            <a:pPr marL="0" indent="0">
              <a:buNone/>
            </a:pPr>
            <a:r>
              <a:rPr lang="en-US" dirty="0"/>
              <a:t>Standard command is MUPIP SET –JOURNAL=… -REGION XXX / -FILE XXX</a:t>
            </a:r>
          </a:p>
          <a:p>
            <a:pPr lvl="1"/>
            <a:r>
              <a:rPr lang="en-US" dirty="0"/>
              <a:t>Where XXX is either a region name or database file name</a:t>
            </a:r>
          </a:p>
          <a:p>
            <a:pPr marL="0" indent="0">
              <a:buNone/>
            </a:pPr>
            <a:r>
              <a:rPr lang="en-US" dirty="0"/>
              <a:t>** - Reminder a journal block is 512 Bytes</a:t>
            </a:r>
          </a:p>
          <a:p>
            <a:endParaRPr lang="en-US" dirty="0"/>
          </a:p>
          <a:p>
            <a:r>
              <a:rPr lang="en-US" dirty="0"/>
              <a:t>ALIGNSIZE=blocks</a:t>
            </a:r>
          </a:p>
          <a:p>
            <a:pPr lvl="1"/>
            <a:r>
              <a:rPr lang="en-US" dirty="0"/>
              <a:t>Specifies the number of 512-byte-blocks in the ALIGNSIZE of the journal file.</a:t>
            </a:r>
          </a:p>
          <a:p>
            <a:pPr lvl="1"/>
            <a:r>
              <a:rPr lang="en-US" dirty="0"/>
              <a:t>If the ALIGNSIZE is not a perfect power of 2, GT.M rounds it up to the nearest power of 2.</a:t>
            </a:r>
          </a:p>
          <a:p>
            <a:pPr lvl="1"/>
            <a:r>
              <a:rPr lang="en-US" dirty="0"/>
              <a:t>The default and minimum ALIGNSIZE value is 4096 blocks.</a:t>
            </a:r>
          </a:p>
          <a:p>
            <a:pPr lvl="1"/>
            <a:r>
              <a:rPr lang="en-US" dirty="0"/>
              <a:t>To facilitate journal recovery in the event of a system crash, the GT.M run-time system ensures that offsets in the journal file at multiples of ALIGNSIZE (except at offset 0 which houses the journal file header) always have a valid journal record.</a:t>
            </a:r>
          </a:p>
          <a:p>
            <a:r>
              <a:rPr lang="en-US" dirty="0"/>
              <a:t>ALLOCATION=blocks</a:t>
            </a:r>
          </a:p>
          <a:p>
            <a:pPr lvl="1"/>
            <a:r>
              <a:rPr lang="en-US" dirty="0"/>
              <a:t>The size of the journal file at creation time is a constant (depending on the GT.M version) but once the journal file reaches the size specified by ALLOCATION, every EXTENSION produces a check of free space available on the device used for the journal file.</a:t>
            </a:r>
          </a:p>
          <a:p>
            <a:pPr lvl="1"/>
            <a:r>
              <a:rPr lang="en-US" dirty="0"/>
              <a:t>When there is no more free space available on the file system holding a journal file, GT.M shuts off journaling for the corresponding database file</a:t>
            </a:r>
          </a:p>
          <a:p>
            <a:pPr lvl="1"/>
            <a:r>
              <a:rPr lang="en-US" dirty="0"/>
              <a:t>As UNIX file systems use lazy allocation schemes, allocation and extension values do not result in physical disk block allocation for the journal file</a:t>
            </a:r>
          </a:p>
          <a:p>
            <a:pPr lvl="1"/>
            <a:r>
              <a:rPr lang="en-US" dirty="0"/>
              <a:t>FIS usually suggests setting the allocation value to the </a:t>
            </a:r>
            <a:r>
              <a:rPr lang="en-US" dirty="0" err="1"/>
              <a:t>autoswitch</a:t>
            </a:r>
            <a:r>
              <a:rPr lang="en-US" dirty="0"/>
              <a:t> limit for best performance.  If disk space is a concern, then a customer might consider modifying the allocation and extension values to perform more checking of available disk space reporting.</a:t>
            </a:r>
          </a:p>
        </p:txBody>
      </p:sp>
      <p:sp>
        <p:nvSpPr>
          <p:cNvPr id="4" name="Slide Number Placeholder 3">
            <a:extLst>
              <a:ext uri="{FF2B5EF4-FFF2-40B4-BE49-F238E27FC236}">
                <a16:creationId xmlns:a16="http://schemas.microsoft.com/office/drawing/2014/main" id="{B1836A64-B383-9F8E-81B2-2BB55A617F74}"/>
              </a:ext>
            </a:extLst>
          </p:cNvPr>
          <p:cNvSpPr>
            <a:spLocks noGrp="1"/>
          </p:cNvSpPr>
          <p:nvPr>
            <p:ph type="sldNum" sz="quarter" idx="10"/>
          </p:nvPr>
        </p:nvSpPr>
        <p:spPr/>
        <p:txBody>
          <a:bodyPr/>
          <a:lstStyle/>
          <a:p>
            <a:pPr>
              <a:defRPr/>
            </a:pPr>
            <a:fld id="{3AD1BE0A-9D7F-468C-B599-8AB35EA99D95}" type="slidenum">
              <a:rPr lang="en-US" smtClean="0"/>
              <a:pPr>
                <a:defRPr/>
              </a:pPr>
              <a:t>7</a:t>
            </a:fld>
            <a:endParaRPr lang="en-US"/>
          </a:p>
        </p:txBody>
      </p:sp>
    </p:spTree>
    <p:extLst>
      <p:ext uri="{BB962C8B-B14F-4D97-AF65-F5344CB8AC3E}">
        <p14:creationId xmlns:p14="http://schemas.microsoft.com/office/powerpoint/2010/main" val="35120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72271-ABCC-A2BB-7194-1D3E05711FF7}"/>
              </a:ext>
            </a:extLst>
          </p:cNvPr>
          <p:cNvSpPr>
            <a:spLocks noGrp="1"/>
          </p:cNvSpPr>
          <p:nvPr>
            <p:ph type="title"/>
          </p:nvPr>
        </p:nvSpPr>
        <p:spPr/>
        <p:txBody>
          <a:bodyPr/>
          <a:lstStyle/>
          <a:p>
            <a:r>
              <a:rPr lang="en-US" dirty="0"/>
              <a:t>GT.M Journaling – MUPIP SET </a:t>
            </a:r>
            <a:br>
              <a:rPr lang="en-US" dirty="0"/>
            </a:br>
            <a:r>
              <a:rPr lang="en-US" dirty="0"/>
              <a:t>-JOURNAL Qualifiers</a:t>
            </a:r>
          </a:p>
        </p:txBody>
      </p:sp>
      <p:sp>
        <p:nvSpPr>
          <p:cNvPr id="3" name="Content Placeholder 2">
            <a:extLst>
              <a:ext uri="{FF2B5EF4-FFF2-40B4-BE49-F238E27FC236}">
                <a16:creationId xmlns:a16="http://schemas.microsoft.com/office/drawing/2014/main" id="{6119127D-C73B-1647-2A77-30829A9847E9}"/>
              </a:ext>
            </a:extLst>
          </p:cNvPr>
          <p:cNvSpPr>
            <a:spLocks noGrp="1"/>
          </p:cNvSpPr>
          <p:nvPr>
            <p:ph idx="1"/>
          </p:nvPr>
        </p:nvSpPr>
        <p:spPr/>
        <p:txBody>
          <a:bodyPr/>
          <a:lstStyle/>
          <a:p>
            <a:r>
              <a:rPr lang="en-US" dirty="0"/>
              <a:t>AUTOSWITCH=blocks</a:t>
            </a:r>
          </a:p>
          <a:p>
            <a:pPr lvl="1"/>
            <a:r>
              <a:rPr lang="en-US" dirty="0"/>
              <a:t>Specifies the limit on the size of a journal file. When the journal file size reaches the limit, GT.M automatically performs an implicit online switch to a new journal file.</a:t>
            </a:r>
          </a:p>
          <a:p>
            <a:pPr lvl="1"/>
            <a:r>
              <a:rPr lang="en-US" dirty="0"/>
              <a:t>FIS Suggests matching the allocation and the </a:t>
            </a:r>
            <a:r>
              <a:rPr lang="en-US" dirty="0" err="1"/>
              <a:t>autoswitch</a:t>
            </a:r>
            <a:r>
              <a:rPr lang="en-US" dirty="0"/>
              <a:t> limit for best performance.</a:t>
            </a:r>
          </a:p>
          <a:p>
            <a:r>
              <a:rPr lang="en-US" dirty="0"/>
              <a:t>[NO]BEFORE_IMAGE</a:t>
            </a:r>
          </a:p>
          <a:p>
            <a:pPr lvl="1"/>
            <a:r>
              <a:rPr lang="en-US" dirty="0"/>
              <a:t>Specifies BEFORE image or M LEVEL (NOBEFORE_IMAGE)</a:t>
            </a:r>
          </a:p>
          <a:p>
            <a:pPr lvl="1"/>
            <a:r>
              <a:rPr lang="en-US" dirty="0"/>
              <a:t>Must be used with MUPIP SET –JOURNAL=</a:t>
            </a:r>
          </a:p>
          <a:p>
            <a:r>
              <a:rPr lang="en-US" dirty="0"/>
              <a:t>BUFFER_SIZE=blocks</a:t>
            </a:r>
          </a:p>
          <a:p>
            <a:pPr lvl="1"/>
            <a:r>
              <a:rPr lang="en-US" dirty="0"/>
              <a:t>Specifies the amount of memory used to buffer journal file output.</a:t>
            </a:r>
          </a:p>
          <a:p>
            <a:pPr lvl="1"/>
            <a:r>
              <a:rPr lang="en-US" dirty="0"/>
              <a:t>MUPIP requires standalone access to the database to modify BUFFER_SIZE. Therefore, GT.M restricts the use of the BUFFER_SIZE option to change the current journal-buffer-size as part of an online switch of the journal files.</a:t>
            </a:r>
          </a:p>
          <a:p>
            <a:pPr lvl="1"/>
            <a:r>
              <a:rPr lang="en-US" dirty="0"/>
              <a:t>The default value is 2312 blocks. The minimum BUFFER_SIZE is 2307 blocks. The maximum BUFFER_SIZE is 1Mi blocks which means that the maximum buffer you can set for your journal file output is 512MiB.</a:t>
            </a:r>
          </a:p>
          <a:p>
            <a:pPr lvl="1"/>
            <a:r>
              <a:rPr lang="en-US" dirty="0"/>
              <a:t>FIS Operations defaults 3000 blocks in operational scripts</a:t>
            </a:r>
          </a:p>
          <a:p>
            <a:r>
              <a:rPr lang="en-US" dirty="0"/>
              <a:t>DISABLE</a:t>
            </a:r>
          </a:p>
          <a:p>
            <a:pPr lvl="1"/>
            <a:r>
              <a:rPr lang="en-US" dirty="0"/>
              <a:t>Same as MUPIP SET –NOJOURNAL</a:t>
            </a:r>
          </a:p>
          <a:p>
            <a:r>
              <a:rPr lang="en-US" dirty="0"/>
              <a:t>ENABLE</a:t>
            </a:r>
          </a:p>
          <a:p>
            <a:pPr lvl="1"/>
            <a:r>
              <a:rPr lang="en-US" dirty="0"/>
              <a:t>Required after a MUPIP CREATE if journaling is not currently enabled</a:t>
            </a:r>
          </a:p>
          <a:p>
            <a:pPr lvl="1"/>
            <a:r>
              <a:rPr lang="en-US" dirty="0"/>
              <a:t>Requires standalone access</a:t>
            </a:r>
          </a:p>
        </p:txBody>
      </p:sp>
      <p:sp>
        <p:nvSpPr>
          <p:cNvPr id="4" name="Slide Number Placeholder 3">
            <a:extLst>
              <a:ext uri="{FF2B5EF4-FFF2-40B4-BE49-F238E27FC236}">
                <a16:creationId xmlns:a16="http://schemas.microsoft.com/office/drawing/2014/main" id="{C6AEB426-EA60-8192-9E2E-D0640069F401}"/>
              </a:ext>
            </a:extLst>
          </p:cNvPr>
          <p:cNvSpPr>
            <a:spLocks noGrp="1"/>
          </p:cNvSpPr>
          <p:nvPr>
            <p:ph type="sldNum" sz="quarter" idx="10"/>
          </p:nvPr>
        </p:nvSpPr>
        <p:spPr/>
        <p:txBody>
          <a:bodyPr/>
          <a:lstStyle/>
          <a:p>
            <a:pPr>
              <a:defRPr/>
            </a:pPr>
            <a:fld id="{3AD1BE0A-9D7F-468C-B599-8AB35EA99D95}" type="slidenum">
              <a:rPr lang="en-US" smtClean="0"/>
              <a:pPr>
                <a:defRPr/>
              </a:pPr>
              <a:t>8</a:t>
            </a:fld>
            <a:endParaRPr lang="en-US"/>
          </a:p>
        </p:txBody>
      </p:sp>
    </p:spTree>
    <p:extLst>
      <p:ext uri="{BB962C8B-B14F-4D97-AF65-F5344CB8AC3E}">
        <p14:creationId xmlns:p14="http://schemas.microsoft.com/office/powerpoint/2010/main" val="1880952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8543E-B13B-2948-7EF9-B08948E8693B}"/>
              </a:ext>
            </a:extLst>
          </p:cNvPr>
          <p:cNvSpPr>
            <a:spLocks noGrp="1"/>
          </p:cNvSpPr>
          <p:nvPr>
            <p:ph type="title"/>
          </p:nvPr>
        </p:nvSpPr>
        <p:spPr/>
        <p:txBody>
          <a:bodyPr/>
          <a:lstStyle/>
          <a:p>
            <a:r>
              <a:rPr lang="en-US" dirty="0"/>
              <a:t>GT.M Journaling – MUPIP SET </a:t>
            </a:r>
            <a:br>
              <a:rPr lang="en-US" dirty="0"/>
            </a:br>
            <a:r>
              <a:rPr lang="en-US" dirty="0"/>
              <a:t>-JOURNAL Qualifiers</a:t>
            </a:r>
          </a:p>
        </p:txBody>
      </p:sp>
      <p:sp>
        <p:nvSpPr>
          <p:cNvPr id="3" name="Content Placeholder 2">
            <a:extLst>
              <a:ext uri="{FF2B5EF4-FFF2-40B4-BE49-F238E27FC236}">
                <a16:creationId xmlns:a16="http://schemas.microsoft.com/office/drawing/2014/main" id="{C475333D-7076-0FD3-6D31-33BFDD4F4991}"/>
              </a:ext>
            </a:extLst>
          </p:cNvPr>
          <p:cNvSpPr>
            <a:spLocks noGrp="1"/>
          </p:cNvSpPr>
          <p:nvPr>
            <p:ph idx="1"/>
          </p:nvPr>
        </p:nvSpPr>
        <p:spPr/>
        <p:txBody>
          <a:bodyPr/>
          <a:lstStyle/>
          <a:p>
            <a:r>
              <a:rPr lang="en-US" dirty="0"/>
              <a:t>EPOCH_INTERVAL=seconds</a:t>
            </a:r>
          </a:p>
          <a:p>
            <a:pPr lvl="1"/>
            <a:r>
              <a:rPr lang="en-US" dirty="0"/>
              <a:t>Elapsed time interval between EPOCHs. </a:t>
            </a:r>
          </a:p>
          <a:p>
            <a:pPr lvl="1"/>
            <a:r>
              <a:rPr lang="en-US" dirty="0"/>
              <a:t>FIS Operational scripts suggest 90 seconds.</a:t>
            </a:r>
          </a:p>
          <a:p>
            <a:pPr lvl="1"/>
            <a:r>
              <a:rPr lang="en-US" dirty="0"/>
              <a:t>An epoch is a checkpoint at which GT.M creates a state where a database file and its journal file are in complete sync and to which GT.M can make a consistent recovery or rollback. GT.M processes constantly cooperate with each other to write the data from the buffers to the secondary storage. At epoch time, GT.M holds a critical section to complete all pending write operations. Other processes updating the database wait till GT.M completes the epoch. GT.M epoch events have a slightly higher(possibly spiky) impact. </a:t>
            </a:r>
          </a:p>
          <a:p>
            <a:pPr lvl="1"/>
            <a:r>
              <a:rPr lang="en-US" dirty="0"/>
              <a:t>With -EPOCHTAPER, GT.M tries to minimize the epoch duration by reducing the amount of data to flush as an epoch event approaches.</a:t>
            </a:r>
          </a:p>
          <a:p>
            <a:r>
              <a:rPr lang="en-US" dirty="0"/>
              <a:t>FILENAME=/location/</a:t>
            </a:r>
            <a:r>
              <a:rPr lang="en-US" dirty="0" err="1"/>
              <a:t>journal_file_name</a:t>
            </a:r>
            <a:endParaRPr lang="en-US" dirty="0"/>
          </a:p>
          <a:p>
            <a:pPr lvl="1"/>
            <a:r>
              <a:rPr lang="en-US" dirty="0" err="1"/>
              <a:t>journal_filename</a:t>
            </a:r>
            <a:r>
              <a:rPr lang="en-US" dirty="0"/>
              <a:t> specifies the name of the journal file. FILENAME is incompatible with SET -REGION, if you specify more than one region.</a:t>
            </a:r>
          </a:p>
          <a:p>
            <a:pPr lvl="1"/>
            <a:r>
              <a:rPr lang="en-US" dirty="0"/>
              <a:t>GT.M treats the filename as having two components - </a:t>
            </a:r>
            <a:r>
              <a:rPr lang="en-US" dirty="0" err="1"/>
              <a:t>basename</a:t>
            </a:r>
            <a:r>
              <a:rPr lang="en-US" dirty="0"/>
              <a:t> and extension. </a:t>
            </a:r>
          </a:p>
          <a:p>
            <a:pPr lvl="1"/>
            <a:r>
              <a:rPr lang="en-US" dirty="0"/>
              <a:t>FIS standard naming convention is </a:t>
            </a:r>
            <a:r>
              <a:rPr lang="en-US" dirty="0" err="1"/>
              <a:t>regionName.mjl</a:t>
            </a:r>
            <a:r>
              <a:rPr lang="en-US" dirty="0"/>
              <a:t> i.e. </a:t>
            </a:r>
            <a:r>
              <a:rPr lang="en-US" dirty="0" err="1"/>
              <a:t>ubg.mjl</a:t>
            </a:r>
            <a:r>
              <a:rPr lang="en-US" dirty="0"/>
              <a:t>.</a:t>
            </a:r>
          </a:p>
          <a:p>
            <a:r>
              <a:rPr lang="en-US" dirty="0"/>
              <a:t>[NO]SYNC_IO</a:t>
            </a:r>
          </a:p>
          <a:p>
            <a:pPr lvl="1"/>
            <a:r>
              <a:rPr lang="en-US" dirty="0"/>
              <a:t>Directs GT.M to open the journal file with certain additional IO flags (the exact set of flags varies by the platform where SYNC_IO is supported, for example on Linux you might utilize the O_DIRECT flag). Under normal operation, data is written to but not read from the journal files. Therefore, depending on your actual workload and your computer system, you may see better throughput by using the SYNC_IO journal option. If you determine that different workloads perform best with a different setting of SYNC_IO, you can change it with MUPIP SET at any time.</a:t>
            </a:r>
          </a:p>
          <a:p>
            <a:endParaRPr lang="en-US" dirty="0"/>
          </a:p>
          <a:p>
            <a:endParaRPr lang="en-US" dirty="0"/>
          </a:p>
        </p:txBody>
      </p:sp>
      <p:sp>
        <p:nvSpPr>
          <p:cNvPr id="4" name="Slide Number Placeholder 3">
            <a:extLst>
              <a:ext uri="{FF2B5EF4-FFF2-40B4-BE49-F238E27FC236}">
                <a16:creationId xmlns:a16="http://schemas.microsoft.com/office/drawing/2014/main" id="{43989F7B-6861-6272-9B4B-DC5687D12CF3}"/>
              </a:ext>
            </a:extLst>
          </p:cNvPr>
          <p:cNvSpPr>
            <a:spLocks noGrp="1"/>
          </p:cNvSpPr>
          <p:nvPr>
            <p:ph type="sldNum" sz="quarter" idx="10"/>
          </p:nvPr>
        </p:nvSpPr>
        <p:spPr/>
        <p:txBody>
          <a:bodyPr/>
          <a:lstStyle/>
          <a:p>
            <a:pPr>
              <a:defRPr/>
            </a:pPr>
            <a:fld id="{3AD1BE0A-9D7F-468C-B599-8AB35EA99D95}" type="slidenum">
              <a:rPr lang="en-US" smtClean="0"/>
              <a:pPr>
                <a:defRPr/>
              </a:pPr>
              <a:t>9</a:t>
            </a:fld>
            <a:endParaRPr lang="en-US"/>
          </a:p>
        </p:txBody>
      </p:sp>
    </p:spTree>
    <p:extLst>
      <p:ext uri="{BB962C8B-B14F-4D97-AF65-F5344CB8AC3E}">
        <p14:creationId xmlns:p14="http://schemas.microsoft.com/office/powerpoint/2010/main" val="669230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CC4B2-CB4D-B58E-872E-B5A7F645F87E}"/>
              </a:ext>
            </a:extLst>
          </p:cNvPr>
          <p:cNvSpPr>
            <a:spLocks noGrp="1"/>
          </p:cNvSpPr>
          <p:nvPr>
            <p:ph type="title"/>
          </p:nvPr>
        </p:nvSpPr>
        <p:spPr/>
        <p:txBody>
          <a:bodyPr/>
          <a:lstStyle/>
          <a:p>
            <a:r>
              <a:rPr lang="en-US" dirty="0"/>
              <a:t>GT.M Journaling – MUPIP SET </a:t>
            </a:r>
            <a:br>
              <a:rPr lang="en-US" dirty="0"/>
            </a:br>
            <a:r>
              <a:rPr lang="en-US" dirty="0"/>
              <a:t>-JOURNAL Qualifiers</a:t>
            </a:r>
          </a:p>
        </p:txBody>
      </p:sp>
      <p:sp>
        <p:nvSpPr>
          <p:cNvPr id="3" name="Content Placeholder 2">
            <a:extLst>
              <a:ext uri="{FF2B5EF4-FFF2-40B4-BE49-F238E27FC236}">
                <a16:creationId xmlns:a16="http://schemas.microsoft.com/office/drawing/2014/main" id="{1055258C-C70E-4C6F-3182-CE8154D6930C}"/>
              </a:ext>
            </a:extLst>
          </p:cNvPr>
          <p:cNvSpPr>
            <a:spLocks noGrp="1"/>
          </p:cNvSpPr>
          <p:nvPr>
            <p:ph idx="1"/>
          </p:nvPr>
        </p:nvSpPr>
        <p:spPr/>
        <p:txBody>
          <a:bodyPr/>
          <a:lstStyle/>
          <a:p>
            <a:r>
              <a:rPr lang="en-US" dirty="0"/>
              <a:t>EXTENSION=blocks</a:t>
            </a:r>
          </a:p>
          <a:p>
            <a:pPr lvl="1"/>
            <a:r>
              <a:rPr lang="en-US" dirty="0"/>
              <a:t>Specifies when GT.M should review disk space available for the journal file after the ALLOCATION has been used up. It also specifies how much space should be available at each review.</a:t>
            </a:r>
          </a:p>
          <a:p>
            <a:pPr lvl="1"/>
            <a:r>
              <a:rPr lang="en-US" dirty="0"/>
              <a:t>When a journal file reaches the size of ALLOCATION and any multiple of EXTENSION, GT.M checks for free space on the file system.</a:t>
            </a:r>
          </a:p>
          <a:p>
            <a:pPr lvl="1"/>
            <a:r>
              <a:rPr lang="en-US" dirty="0"/>
              <a:t>If the available space is less than three times the EXTENSION, GT.M sends the DSKSPACELOW informational message to the operator log.</a:t>
            </a:r>
          </a:p>
          <a:p>
            <a:pPr lvl="1"/>
            <a:r>
              <a:rPr lang="en-US" dirty="0"/>
              <a:t>If the available space is less than EXTENSION (even if there is space to continue journaling), GT.M shuts off journaling for the corresponding database file or institutes and Instance Freeze.</a:t>
            </a:r>
          </a:p>
          <a:p>
            <a:pPr lvl="1"/>
            <a:r>
              <a:rPr lang="en-US" dirty="0"/>
              <a:t>GT.M also attempts to write the JNLSPACELOW message to the operator log three times as a journal file reaches its maximum size. </a:t>
            </a:r>
          </a:p>
          <a:p>
            <a:pPr lvl="2"/>
            <a:r>
              <a:rPr lang="en-US" dirty="0"/>
              <a:t>The first JNLSPACELOW message appears in the operator log when twice the number of EXTENSION blocks are left before a journal file reaches the maximum size (AUTOSWITCHLIMIT)</a:t>
            </a:r>
          </a:p>
          <a:p>
            <a:pPr lvl="2"/>
            <a:r>
              <a:rPr lang="en-US" dirty="0"/>
              <a:t>The second appears when EXTENSION blocks are left</a:t>
            </a:r>
          </a:p>
          <a:p>
            <a:pPr lvl="2"/>
            <a:r>
              <a:rPr lang="en-US" dirty="0"/>
              <a:t>The third appears when the journal file reaches the maximum size (AUTOSWITCHLIMIT).</a:t>
            </a:r>
          </a:p>
          <a:p>
            <a:pPr lvl="1"/>
            <a:r>
              <a:rPr lang="en-US" dirty="0"/>
              <a:t>As UNIX file systems use lazy allocation schemes, allocation and extension values do not result in physical disk block allocation for the journal file</a:t>
            </a:r>
          </a:p>
          <a:p>
            <a:pPr lvl="1"/>
            <a:r>
              <a:rPr lang="en-US" dirty="0"/>
              <a:t>FIS usually suggests setting the extension value to the </a:t>
            </a:r>
            <a:r>
              <a:rPr lang="en-US" dirty="0" err="1"/>
              <a:t>autoswitch</a:t>
            </a:r>
            <a:r>
              <a:rPr lang="en-US" dirty="0"/>
              <a:t> limit for best performance.  If disk space is a concern, then a customer might consider modifying the allocation and extension values to perform more checking of available disk space reporting.</a:t>
            </a:r>
          </a:p>
          <a:p>
            <a:endParaRPr lang="en-US" dirty="0"/>
          </a:p>
        </p:txBody>
      </p:sp>
      <p:sp>
        <p:nvSpPr>
          <p:cNvPr id="4" name="Slide Number Placeholder 3">
            <a:extLst>
              <a:ext uri="{FF2B5EF4-FFF2-40B4-BE49-F238E27FC236}">
                <a16:creationId xmlns:a16="http://schemas.microsoft.com/office/drawing/2014/main" id="{673B08BF-EB91-E3A7-249F-20EC5F78FA89}"/>
              </a:ext>
            </a:extLst>
          </p:cNvPr>
          <p:cNvSpPr>
            <a:spLocks noGrp="1"/>
          </p:cNvSpPr>
          <p:nvPr>
            <p:ph type="sldNum" sz="quarter" idx="10"/>
          </p:nvPr>
        </p:nvSpPr>
        <p:spPr/>
        <p:txBody>
          <a:bodyPr/>
          <a:lstStyle/>
          <a:p>
            <a:pPr>
              <a:defRPr/>
            </a:pPr>
            <a:fld id="{3AD1BE0A-9D7F-468C-B599-8AB35EA99D95}" type="slidenum">
              <a:rPr lang="en-US" smtClean="0"/>
              <a:pPr>
                <a:defRPr/>
              </a:pPr>
              <a:t>10</a:t>
            </a:fld>
            <a:endParaRPr lang="en-US"/>
          </a:p>
        </p:txBody>
      </p:sp>
    </p:spTree>
    <p:extLst>
      <p:ext uri="{BB962C8B-B14F-4D97-AF65-F5344CB8AC3E}">
        <p14:creationId xmlns:p14="http://schemas.microsoft.com/office/powerpoint/2010/main" val="3841797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6ADA6-AD8F-0C53-1C9B-0D53CE09F06D}"/>
              </a:ext>
            </a:extLst>
          </p:cNvPr>
          <p:cNvSpPr>
            <a:spLocks noGrp="1"/>
          </p:cNvSpPr>
          <p:nvPr>
            <p:ph type="title"/>
          </p:nvPr>
        </p:nvSpPr>
        <p:spPr/>
        <p:txBody>
          <a:bodyPr/>
          <a:lstStyle/>
          <a:p>
            <a:r>
              <a:rPr lang="en-US" dirty="0"/>
              <a:t>GT.M Journaling – MUPIP SET </a:t>
            </a:r>
            <a:br>
              <a:rPr lang="en-US" dirty="0"/>
            </a:br>
            <a:r>
              <a:rPr lang="en-US" dirty="0"/>
              <a:t>-JOURNAL Qualifiers</a:t>
            </a:r>
          </a:p>
        </p:txBody>
      </p:sp>
      <p:sp>
        <p:nvSpPr>
          <p:cNvPr id="3" name="Content Placeholder 2">
            <a:extLst>
              <a:ext uri="{FF2B5EF4-FFF2-40B4-BE49-F238E27FC236}">
                <a16:creationId xmlns:a16="http://schemas.microsoft.com/office/drawing/2014/main" id="{01B0CAC5-D9EB-2F7F-91D8-C7BC93C0BF00}"/>
              </a:ext>
            </a:extLst>
          </p:cNvPr>
          <p:cNvSpPr>
            <a:spLocks noGrp="1"/>
          </p:cNvSpPr>
          <p:nvPr>
            <p:ph idx="1"/>
          </p:nvPr>
        </p:nvSpPr>
        <p:spPr/>
        <p:txBody>
          <a:bodyPr/>
          <a:lstStyle/>
          <a:p>
            <a:r>
              <a:rPr lang="en-US" dirty="0"/>
              <a:t>OFF</a:t>
            </a:r>
          </a:p>
          <a:p>
            <a:pPr lvl="1"/>
            <a:r>
              <a:rPr lang="en-US" dirty="0"/>
              <a:t>Stops recording subsequent database updates in the journal file. Specify OFF to establish journaling characteristics without creating a journal file or starting journaling.</a:t>
            </a:r>
          </a:p>
          <a:p>
            <a:r>
              <a:rPr lang="en-US" dirty="0"/>
              <a:t>ON</a:t>
            </a:r>
          </a:p>
          <a:p>
            <a:pPr lvl="1"/>
            <a:r>
              <a:rPr lang="en-US" dirty="0"/>
              <a:t>Records subsequent database updates in that journal file. MUPIP SET -JOURNAL=ON must include either BEFORE_IMAGES or NOBEFORE_IMAGES in the accompanying journal-option-list. </a:t>
            </a:r>
          </a:p>
          <a:p>
            <a:pPr lvl="1"/>
            <a:r>
              <a:rPr lang="en-US" dirty="0"/>
              <a:t>If the current generation journal file is damaged/missing, MUPIP SET -JOURNAL=ON implicitly turns off journaling for the specified region, creates a new journal file with no back pointers to the prior generation journal file, and turns journaling back on</a:t>
            </a:r>
          </a:p>
          <a:p>
            <a:r>
              <a:rPr lang="en-US" dirty="0"/>
              <a:t>YEILD_LIMIT=yield count</a:t>
            </a:r>
          </a:p>
          <a:p>
            <a:pPr lvl="1"/>
            <a:r>
              <a:rPr lang="en-US" dirty="0"/>
              <a:t>specifies the number of times a process that tries to flush journal buffer contents to disk yields its </a:t>
            </a:r>
            <a:r>
              <a:rPr lang="en-US" dirty="0" err="1"/>
              <a:t>timeslice</a:t>
            </a:r>
            <a:r>
              <a:rPr lang="en-US" dirty="0"/>
              <a:t> and waits for additional journal buffer content to be filled-in by concurrently active processes, before initiating a less than optimal I/O operation.</a:t>
            </a:r>
          </a:p>
          <a:p>
            <a:pPr lvl="1"/>
            <a:r>
              <a:rPr lang="en-US" dirty="0"/>
              <a:t>Note: A small YIELD_LIMIT may cause performance loss due to partial page writes while a large YIELD_LIMIT may also cause performance loss due to significant idle times (due to a lot of yields).</a:t>
            </a:r>
          </a:p>
          <a:p>
            <a:pPr lvl="1"/>
            <a:r>
              <a:rPr lang="en-US" dirty="0"/>
              <a:t>The minimum YIELD_LIMIT is zero (0), the maximum YIELD_LIMIT is 2048 and the default YIELD_LIMIT is 8.</a:t>
            </a:r>
          </a:p>
          <a:p>
            <a:pPr lvl="1"/>
            <a:r>
              <a:rPr lang="en-US" dirty="0"/>
              <a:t>The YIELD_LIMIT qualifier tries to reduce the frequency of sub-optimal partial block writes by deferring such writes as much as possible in the hope that in the meantime the journal buffer accumulates more content and qualifies for an optimal entire block write.</a:t>
            </a:r>
          </a:p>
          <a:p>
            <a:pPr lvl="1"/>
            <a:r>
              <a:rPr lang="en-US" dirty="0"/>
              <a:t>FIS Operations uses the default of 8.</a:t>
            </a:r>
          </a:p>
          <a:p>
            <a:endParaRPr lang="en-US" dirty="0"/>
          </a:p>
        </p:txBody>
      </p:sp>
      <p:sp>
        <p:nvSpPr>
          <p:cNvPr id="4" name="Slide Number Placeholder 3">
            <a:extLst>
              <a:ext uri="{FF2B5EF4-FFF2-40B4-BE49-F238E27FC236}">
                <a16:creationId xmlns:a16="http://schemas.microsoft.com/office/drawing/2014/main" id="{A5EA218A-99C3-AD2E-85C5-64C980974872}"/>
              </a:ext>
            </a:extLst>
          </p:cNvPr>
          <p:cNvSpPr>
            <a:spLocks noGrp="1"/>
          </p:cNvSpPr>
          <p:nvPr>
            <p:ph type="sldNum" sz="quarter" idx="10"/>
          </p:nvPr>
        </p:nvSpPr>
        <p:spPr/>
        <p:txBody>
          <a:bodyPr/>
          <a:lstStyle/>
          <a:p>
            <a:pPr>
              <a:defRPr/>
            </a:pPr>
            <a:fld id="{3AD1BE0A-9D7F-468C-B599-8AB35EA99D95}" type="slidenum">
              <a:rPr lang="en-US" smtClean="0"/>
              <a:pPr>
                <a:defRPr/>
              </a:pPr>
              <a:t>11</a:t>
            </a:fld>
            <a:endParaRPr lang="en-US"/>
          </a:p>
        </p:txBody>
      </p:sp>
    </p:spTree>
    <p:extLst>
      <p:ext uri="{BB962C8B-B14F-4D97-AF65-F5344CB8AC3E}">
        <p14:creationId xmlns:p14="http://schemas.microsoft.com/office/powerpoint/2010/main" val="2406277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GT.M Journaling – JOURNAL Qualifiers</a:t>
            </a:r>
          </a:p>
        </p:txBody>
      </p:sp>
      <p:sp>
        <p:nvSpPr>
          <p:cNvPr id="3" name="Content Placeholder 2"/>
          <p:cNvSpPr>
            <a:spLocks noGrp="1"/>
          </p:cNvSpPr>
          <p:nvPr>
            <p:ph idx="1"/>
          </p:nvPr>
        </p:nvSpPr>
        <p:spPr/>
        <p:txBody>
          <a:bodyPr/>
          <a:lstStyle/>
          <a:p>
            <a:r>
              <a:rPr lang="en-US" dirty="0"/>
              <a:t>-EXTRACT &lt;file-name&gt; or -</a:t>
            </a:r>
            <a:r>
              <a:rPr lang="en-US" dirty="0" err="1"/>
              <a:t>stdout</a:t>
            </a:r>
            <a:r>
              <a:rPr lang="en-US" dirty="0"/>
              <a:t> as an optional argument</a:t>
            </a:r>
          </a:p>
          <a:p>
            <a:pPr lvl="1"/>
            <a:r>
              <a:rPr lang="en-US" dirty="0"/>
              <a:t>&lt;file-name&gt; specifies the name of the output file. -</a:t>
            </a:r>
            <a:r>
              <a:rPr lang="en-US" dirty="0" err="1"/>
              <a:t>stdout</a:t>
            </a:r>
            <a:r>
              <a:rPr lang="en-US" dirty="0"/>
              <a:t> specifies that -EXTRACT write to standard output (</a:t>
            </a:r>
            <a:r>
              <a:rPr lang="en-US" dirty="0" err="1"/>
              <a:t>stdout</a:t>
            </a:r>
            <a:r>
              <a:rPr lang="en-US" dirty="0"/>
              <a:t>) instead of writing to a file.</a:t>
            </a:r>
          </a:p>
          <a:p>
            <a:pPr lvl="1"/>
            <a:r>
              <a:rPr lang="en-US" dirty="0"/>
              <a:t>With no arguments, MUPIP JOURNAL derives the output file specification of the extract file using the name of the first journal file that is processed in the forward processing phase and a file type of .</a:t>
            </a:r>
            <a:r>
              <a:rPr lang="en-US" dirty="0" err="1"/>
              <a:t>mjf</a:t>
            </a:r>
            <a:r>
              <a:rPr lang="en-US" dirty="0"/>
              <a:t>. </a:t>
            </a:r>
          </a:p>
          <a:p>
            <a:pPr lvl="1"/>
            <a:r>
              <a:rPr lang="en-US" dirty="0"/>
              <a:t>Note that, if multiple journal names are specified in the command line the first journal specified might be different from the first journal processed in the forward phase.</a:t>
            </a:r>
          </a:p>
          <a:p>
            <a:pPr lvl="1"/>
            <a:r>
              <a:rPr lang="en-US" dirty="0"/>
              <a:t>-DETAIL provides additional information like offsets and different types of journal entries; i.e. epoch markers.</a:t>
            </a:r>
          </a:p>
          <a:p>
            <a:pPr lvl="1"/>
            <a:r>
              <a:rPr lang="en-US" dirty="0"/>
              <a:t>For GT.M Journal file extract formats please reference the </a:t>
            </a:r>
            <a:r>
              <a:rPr lang="en-US" i="1" dirty="0"/>
              <a:t>GT.M Administration and Operations Manual : GT.M Journal Chapter : Journal Extract Formats</a:t>
            </a:r>
          </a:p>
          <a:p>
            <a:r>
              <a:rPr lang="en-US" dirty="0"/>
              <a:t>-PARA[LLEL][=n] </a:t>
            </a:r>
          </a:p>
          <a:p>
            <a:pPr lvl="1"/>
            <a:r>
              <a:rPr lang="en-US" dirty="0"/>
              <a:t>Specifies the number of parallel threads (for backward processing) and parallel processes (for forward processing). Parallel threads typically increase the speed of MUPIP JOURNAL RECOVER/ROLLBACK operations.</a:t>
            </a:r>
          </a:p>
          <a:p>
            <a:pPr lvl="1"/>
            <a:r>
              <a:rPr lang="en-US" dirty="0"/>
              <a:t>Omitting the qualifier or specifying a value of one (1) defaults to a single process</a:t>
            </a:r>
          </a:p>
          <a:p>
            <a:pPr lvl="1"/>
            <a:r>
              <a:rPr lang="en-US" dirty="0"/>
              <a:t>Omitting the value or specifying a value of zero (0) specifies one thread or process per region</a:t>
            </a:r>
          </a:p>
          <a:p>
            <a:pPr lvl="1"/>
            <a:r>
              <a:rPr lang="en-US" dirty="0"/>
              <a:t>The environment variable </a:t>
            </a:r>
            <a:r>
              <a:rPr lang="en-US" dirty="0" err="1"/>
              <a:t>gtm_mupjnl_parallel</a:t>
            </a:r>
            <a:r>
              <a:rPr lang="en-US" dirty="0"/>
              <a:t> provides a value when the MUPIP JOURNAL command has no explicit -PARALLEL qualifier; when defined with no value </a:t>
            </a:r>
            <a:r>
              <a:rPr lang="en-US" dirty="0" err="1"/>
              <a:t>gtm_mupjnl_parallel</a:t>
            </a:r>
            <a:r>
              <a:rPr lang="en-US" dirty="0"/>
              <a:t> acts like -PARALLEL with no value</a:t>
            </a:r>
          </a:p>
          <a:p>
            <a:pPr lvl="1"/>
            <a:r>
              <a:rPr lang="en-US" dirty="0"/>
              <a:t>FIS Operational scripts does not utilize -PARALLEL</a:t>
            </a:r>
          </a:p>
          <a:p>
            <a:r>
              <a:rPr lang="en-US" dirty="0"/>
              <a:t>-RECOVER</a:t>
            </a:r>
          </a:p>
          <a:p>
            <a:pPr lvl="1"/>
            <a:r>
              <a:rPr lang="en-US" dirty="0"/>
              <a:t>Instructs MUPIP JOURNAL to initiate database recovery. -RECOVER initiates the central JOURNAL operation for non-replicated database. From the list of JOURNAL action qualifiers, select RECOVER alone or with any other action qualifiers except -ROLLBACK.</a:t>
            </a:r>
          </a:p>
        </p:txBody>
      </p:sp>
      <p:sp>
        <p:nvSpPr>
          <p:cNvPr id="4" name="Slide Number Placeholder 3"/>
          <p:cNvSpPr>
            <a:spLocks noGrp="1"/>
          </p:cNvSpPr>
          <p:nvPr>
            <p:ph type="sldNum" sz="quarter" idx="10"/>
          </p:nvPr>
        </p:nvSpPr>
        <p:spPr/>
        <p:txBody>
          <a:bodyPr/>
          <a:lstStyle/>
          <a:p>
            <a:fld id="{6EF4D2D5-8D6E-4623-930F-51CDEFA394B9}" type="slidenum">
              <a:rPr lang="en-US" smtClean="0"/>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16408-DE00-52BC-4A5A-0F6FB17965D4}"/>
              </a:ext>
            </a:extLst>
          </p:cNvPr>
          <p:cNvSpPr>
            <a:spLocks noGrp="1"/>
          </p:cNvSpPr>
          <p:nvPr>
            <p:ph type="title"/>
          </p:nvPr>
        </p:nvSpPr>
        <p:spPr/>
        <p:txBody>
          <a:bodyPr/>
          <a:lstStyle/>
          <a:p>
            <a:r>
              <a:rPr lang="en-US" dirty="0"/>
              <a:t>GT.M Journaling – JOURNAL Qualifiers</a:t>
            </a:r>
          </a:p>
        </p:txBody>
      </p:sp>
      <p:sp>
        <p:nvSpPr>
          <p:cNvPr id="3" name="Content Placeholder 2">
            <a:extLst>
              <a:ext uri="{FF2B5EF4-FFF2-40B4-BE49-F238E27FC236}">
                <a16:creationId xmlns:a16="http://schemas.microsoft.com/office/drawing/2014/main" id="{8F5C3033-48D7-0032-2934-8B514567F128}"/>
              </a:ext>
            </a:extLst>
          </p:cNvPr>
          <p:cNvSpPr>
            <a:spLocks noGrp="1"/>
          </p:cNvSpPr>
          <p:nvPr>
            <p:ph idx="1"/>
          </p:nvPr>
        </p:nvSpPr>
        <p:spPr/>
        <p:txBody>
          <a:bodyPr/>
          <a:lstStyle/>
          <a:p>
            <a:r>
              <a:rPr lang="en-US" dirty="0"/>
              <a:t>-ROLLBACK=ONLINE/NOONLINE</a:t>
            </a:r>
          </a:p>
          <a:p>
            <a:pPr lvl="1"/>
            <a:r>
              <a:rPr lang="en-US" dirty="0"/>
              <a:t>Used with replication</a:t>
            </a:r>
          </a:p>
          <a:p>
            <a:pPr lvl="1"/>
            <a:r>
              <a:rPr lang="en-US" dirty="0"/>
              <a:t>-ROLLBACK -FORWARD "*" command does what a -RECOVER -FORWARD "*" would do except that the ROLLBACK also updates sequence number related fields in the database file header and ensures update serialization across regions. -RECOVER can leave one database region ahead of another region. -RECOVER cannot ensure database Consistency across regions whereas -ROLLBACK can.</a:t>
            </a:r>
          </a:p>
          <a:p>
            <a:pPr lvl="1"/>
            <a:r>
              <a:rPr lang="en-US" dirty="0"/>
              <a:t>A prefix </a:t>
            </a:r>
            <a:r>
              <a:rPr lang="en-US" dirty="0" err="1"/>
              <a:t>rolled_bak</a:t>
            </a:r>
            <a:r>
              <a:rPr lang="en-US" dirty="0"/>
              <a:t>_ is added to the journal file, whose entire contents are eliminated by a -ROLLBACK. These files are not used by GT.M after the MUPIP JOURNAL -ROLLBACK, and can be moved/deleted as needed.</a:t>
            </a:r>
          </a:p>
          <a:p>
            <a:pPr lvl="1"/>
            <a:r>
              <a:rPr lang="en-US" dirty="0"/>
              <a:t>DEFAULT : NOONLINE</a:t>
            </a:r>
          </a:p>
          <a:p>
            <a:pPr lvl="1"/>
            <a:r>
              <a:rPr lang="en-US" dirty="0"/>
              <a:t>-ON[LINE]</a:t>
            </a:r>
          </a:p>
          <a:p>
            <a:pPr lvl="2"/>
            <a:r>
              <a:rPr lang="en-US" dirty="0"/>
              <a:t>Specifies that ROLLBACK can run without requiring exclusive access to the database and the replication instance file.</a:t>
            </a:r>
          </a:p>
          <a:p>
            <a:pPr lvl="2"/>
            <a:r>
              <a:rPr lang="en-US" dirty="0"/>
              <a:t>Any utility/command attempted while MUPIP JOURNAL -ONLINE -ROLLBACK operates waits for ROLLBACK to complete; the $</a:t>
            </a:r>
            <a:r>
              <a:rPr lang="en-US" dirty="0" err="1"/>
              <a:t>gtm_db_startup_max_wait</a:t>
            </a:r>
            <a:r>
              <a:rPr lang="en-US" dirty="0"/>
              <a:t> environment variable configures the wait period.</a:t>
            </a:r>
          </a:p>
        </p:txBody>
      </p:sp>
      <p:sp>
        <p:nvSpPr>
          <p:cNvPr id="4" name="Slide Number Placeholder 3">
            <a:extLst>
              <a:ext uri="{FF2B5EF4-FFF2-40B4-BE49-F238E27FC236}">
                <a16:creationId xmlns:a16="http://schemas.microsoft.com/office/drawing/2014/main" id="{19927973-3FB9-4776-C561-1C7CBBC5C5FB}"/>
              </a:ext>
            </a:extLst>
          </p:cNvPr>
          <p:cNvSpPr>
            <a:spLocks noGrp="1"/>
          </p:cNvSpPr>
          <p:nvPr>
            <p:ph type="sldNum" sz="quarter" idx="10"/>
          </p:nvPr>
        </p:nvSpPr>
        <p:spPr/>
        <p:txBody>
          <a:bodyPr/>
          <a:lstStyle/>
          <a:p>
            <a:pPr>
              <a:defRPr/>
            </a:pPr>
            <a:fld id="{3AD1BE0A-9D7F-468C-B599-8AB35EA99D95}" type="slidenum">
              <a:rPr lang="en-US" smtClean="0"/>
              <a:pPr>
                <a:defRPr/>
              </a:pPr>
              <a:t>13</a:t>
            </a:fld>
            <a:endParaRPr lang="en-US"/>
          </a:p>
        </p:txBody>
      </p:sp>
    </p:spTree>
    <p:extLst>
      <p:ext uri="{BB962C8B-B14F-4D97-AF65-F5344CB8AC3E}">
        <p14:creationId xmlns:p14="http://schemas.microsoft.com/office/powerpoint/2010/main" val="3229425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CE320-AC15-C5D4-D024-046D29FA8ADE}"/>
              </a:ext>
            </a:extLst>
          </p:cNvPr>
          <p:cNvSpPr>
            <a:spLocks noGrp="1"/>
          </p:cNvSpPr>
          <p:nvPr>
            <p:ph type="title"/>
          </p:nvPr>
        </p:nvSpPr>
        <p:spPr/>
        <p:txBody>
          <a:bodyPr/>
          <a:lstStyle/>
          <a:p>
            <a:r>
              <a:rPr lang="en-US" dirty="0"/>
              <a:t>GT.M Journaling – JOURNAL Qualifiers</a:t>
            </a:r>
          </a:p>
        </p:txBody>
      </p:sp>
      <p:sp>
        <p:nvSpPr>
          <p:cNvPr id="3" name="Content Placeholder 2">
            <a:extLst>
              <a:ext uri="{FF2B5EF4-FFF2-40B4-BE49-F238E27FC236}">
                <a16:creationId xmlns:a16="http://schemas.microsoft.com/office/drawing/2014/main" id="{8E741B65-0E6D-B39A-D15D-D3ED8E2F3242}"/>
              </a:ext>
            </a:extLst>
          </p:cNvPr>
          <p:cNvSpPr>
            <a:spLocks noGrp="1"/>
          </p:cNvSpPr>
          <p:nvPr>
            <p:ph idx="1"/>
          </p:nvPr>
        </p:nvSpPr>
        <p:spPr/>
        <p:txBody>
          <a:bodyPr/>
          <a:lstStyle/>
          <a:p>
            <a:r>
              <a:rPr lang="en-US" dirty="0"/>
              <a:t>-SHOW=option</a:t>
            </a:r>
          </a:p>
          <a:p>
            <a:pPr lvl="1"/>
            <a:r>
              <a:rPr lang="en-US" dirty="0"/>
              <a:t>Specifies which information for the JOURNAL command to display about a journal file.</a:t>
            </a:r>
          </a:p>
          <a:p>
            <a:pPr lvl="1"/>
            <a:r>
              <a:rPr lang="en-US" dirty="0"/>
              <a:t>Options:</a:t>
            </a:r>
          </a:p>
          <a:p>
            <a:pPr lvl="2"/>
            <a:r>
              <a:rPr lang="en-US" dirty="0"/>
              <a:t>AL[L] : Displays all the available type of information about the journal file. ALL is the default</a:t>
            </a:r>
          </a:p>
          <a:p>
            <a:pPr lvl="2"/>
            <a:r>
              <a:rPr lang="en-US" dirty="0"/>
              <a:t>AC[TIVE_PROCESSES] : Displays all processes active </a:t>
            </a:r>
            <a:r>
              <a:rPr lang="en-US" u="sng" dirty="0"/>
              <a:t>at the end of the period </a:t>
            </a:r>
            <a:r>
              <a:rPr lang="en-US" dirty="0"/>
              <a:t>specified implicitly or explicitly by the JOURNAL command time qualifiers.</a:t>
            </a:r>
          </a:p>
          <a:p>
            <a:pPr lvl="2"/>
            <a:r>
              <a:rPr lang="en-US" dirty="0"/>
              <a:t>B[ROKEN_TRANSACTIONS] : Display all processes that had incomplete fenced transactions at the end of the period covered by the JOURNAL command.</a:t>
            </a:r>
          </a:p>
          <a:p>
            <a:pPr lvl="2"/>
            <a:r>
              <a:rPr lang="en-US" dirty="0"/>
              <a:t>H[EADER] : Displays the journal file header information.</a:t>
            </a:r>
          </a:p>
          <a:p>
            <a:pPr lvl="2"/>
            <a:r>
              <a:rPr lang="en-US" dirty="0"/>
              <a:t>P[ROCESSES] : Displays all processes active </a:t>
            </a:r>
            <a:r>
              <a:rPr lang="en-US" u="sng" dirty="0"/>
              <a:t>during the period </a:t>
            </a:r>
            <a:r>
              <a:rPr lang="en-US" dirty="0"/>
              <a:t>specified implicitly or explicitly by the JOURNAL command time qualifiers.</a:t>
            </a:r>
          </a:p>
          <a:p>
            <a:pPr lvl="2"/>
            <a:r>
              <a:rPr lang="en-US" dirty="0"/>
              <a:t>S[TATISTICS] : Displays a count of all journal record types processed during the period specified implicitly or explicitly by the JOURNAL command time qualifiers</a:t>
            </a:r>
          </a:p>
          <a:p>
            <a:r>
              <a:rPr lang="en-US" dirty="0"/>
              <a:t>-VERIFY</a:t>
            </a:r>
          </a:p>
          <a:p>
            <a:pPr lvl="1"/>
            <a:r>
              <a:rPr lang="en-US" dirty="0"/>
              <a:t>Verifies journal files for integrity. </a:t>
            </a:r>
          </a:p>
          <a:p>
            <a:pPr lvl="1"/>
            <a:r>
              <a:rPr lang="en-US" dirty="0"/>
              <a:t>Scans journal files and checks if they have legal form, if not, it terminates without affecting the database files.</a:t>
            </a:r>
          </a:p>
          <a:p>
            <a:pPr lvl="1"/>
            <a:r>
              <a:rPr lang="en-US" dirty="0"/>
              <a:t>Usually suggest –NOVERIFY when performing EXTRACT.</a:t>
            </a:r>
          </a:p>
          <a:p>
            <a:endParaRPr lang="en-US" dirty="0"/>
          </a:p>
          <a:p>
            <a:r>
              <a:rPr lang="en-US" dirty="0"/>
              <a:t>Must contain a directional qualifier</a:t>
            </a:r>
          </a:p>
          <a:p>
            <a:pPr lvl="1"/>
            <a:r>
              <a:rPr lang="en-US" dirty="0"/>
              <a:t>-BACKWARD</a:t>
            </a:r>
          </a:p>
          <a:p>
            <a:pPr lvl="2"/>
            <a:r>
              <a:rPr lang="en-US" dirty="0"/>
              <a:t>Process from the back of the database files using before images and then play forward with M level updates</a:t>
            </a:r>
          </a:p>
          <a:p>
            <a:pPr lvl="1"/>
            <a:r>
              <a:rPr lang="en-US" dirty="0"/>
              <a:t>-FORWARD</a:t>
            </a:r>
          </a:p>
          <a:p>
            <a:pPr lvl="2"/>
            <a:r>
              <a:rPr lang="en-US" dirty="0"/>
              <a:t>After a database file(s) restore process the journal files “forward”</a:t>
            </a:r>
          </a:p>
          <a:p>
            <a:pPr lvl="1"/>
            <a:endParaRPr lang="en-US" dirty="0"/>
          </a:p>
        </p:txBody>
      </p:sp>
      <p:sp>
        <p:nvSpPr>
          <p:cNvPr id="4" name="Slide Number Placeholder 3">
            <a:extLst>
              <a:ext uri="{FF2B5EF4-FFF2-40B4-BE49-F238E27FC236}">
                <a16:creationId xmlns:a16="http://schemas.microsoft.com/office/drawing/2014/main" id="{ECB6D631-CD18-12AD-DA30-25FA9DC0FA94}"/>
              </a:ext>
            </a:extLst>
          </p:cNvPr>
          <p:cNvSpPr>
            <a:spLocks noGrp="1"/>
          </p:cNvSpPr>
          <p:nvPr>
            <p:ph type="sldNum" sz="quarter" idx="10"/>
          </p:nvPr>
        </p:nvSpPr>
        <p:spPr/>
        <p:txBody>
          <a:bodyPr/>
          <a:lstStyle/>
          <a:p>
            <a:pPr>
              <a:defRPr/>
            </a:pPr>
            <a:fld id="{3AD1BE0A-9D7F-468C-B599-8AB35EA99D95}" type="slidenum">
              <a:rPr lang="en-US" smtClean="0"/>
              <a:pPr>
                <a:defRPr/>
              </a:pPr>
              <a:t>14</a:t>
            </a:fld>
            <a:endParaRPr lang="en-US"/>
          </a:p>
        </p:txBody>
      </p:sp>
    </p:spTree>
    <p:extLst>
      <p:ext uri="{BB962C8B-B14F-4D97-AF65-F5344CB8AC3E}">
        <p14:creationId xmlns:p14="http://schemas.microsoft.com/office/powerpoint/2010/main" val="3252731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073D6-7BCD-AE23-C414-6EFC4209B336}"/>
              </a:ext>
            </a:extLst>
          </p:cNvPr>
          <p:cNvSpPr>
            <a:spLocks noGrp="1"/>
          </p:cNvSpPr>
          <p:nvPr>
            <p:ph type="title"/>
          </p:nvPr>
        </p:nvSpPr>
        <p:spPr/>
        <p:txBody>
          <a:bodyPr/>
          <a:lstStyle/>
          <a:p>
            <a:r>
              <a:rPr lang="en-US" dirty="0"/>
              <a:t>GT.M Journaling –Time Formats for Time Qualifiers</a:t>
            </a:r>
          </a:p>
        </p:txBody>
      </p:sp>
      <p:sp>
        <p:nvSpPr>
          <p:cNvPr id="3" name="Content Placeholder 2">
            <a:extLst>
              <a:ext uri="{FF2B5EF4-FFF2-40B4-BE49-F238E27FC236}">
                <a16:creationId xmlns:a16="http://schemas.microsoft.com/office/drawing/2014/main" id="{0E918620-FCB5-DAB8-7F0A-158D4E6A92C5}"/>
              </a:ext>
            </a:extLst>
          </p:cNvPr>
          <p:cNvSpPr>
            <a:spLocks noGrp="1"/>
          </p:cNvSpPr>
          <p:nvPr>
            <p:ph idx="1"/>
          </p:nvPr>
        </p:nvSpPr>
        <p:spPr/>
        <p:txBody>
          <a:bodyPr/>
          <a:lstStyle/>
          <a:p>
            <a:r>
              <a:rPr lang="en-US" dirty="0"/>
              <a:t>Absolute format is day-</a:t>
            </a:r>
            <a:r>
              <a:rPr lang="en-US" dirty="0" err="1"/>
              <a:t>mon</a:t>
            </a:r>
            <a:r>
              <a:rPr lang="en-US" dirty="0"/>
              <a:t>-</a:t>
            </a:r>
            <a:r>
              <a:rPr lang="en-US" dirty="0" err="1"/>
              <a:t>yyyy</a:t>
            </a:r>
            <a:r>
              <a:rPr lang="en-US" dirty="0"/>
              <a:t> </a:t>
            </a:r>
            <a:r>
              <a:rPr lang="en-US" dirty="0" err="1"/>
              <a:t>hh:mm:ss</a:t>
            </a:r>
            <a:r>
              <a:rPr lang="en-US" dirty="0"/>
              <a:t>, where day denotes the date of the month, </a:t>
            </a:r>
            <a:r>
              <a:rPr lang="en-US" dirty="0" err="1"/>
              <a:t>mon</a:t>
            </a:r>
            <a:r>
              <a:rPr lang="en-US" dirty="0"/>
              <a:t> indicates the abbreviated 3-letter month name (for example, Jan, Feb,..) and the year </a:t>
            </a:r>
            <a:r>
              <a:rPr lang="en-US" dirty="0" err="1"/>
              <a:t>yyyy</a:t>
            </a:r>
            <a:r>
              <a:rPr lang="en-US" dirty="0"/>
              <a:t> and hour </a:t>
            </a:r>
            <a:r>
              <a:rPr lang="en-US" dirty="0" err="1"/>
              <a:t>hh</a:t>
            </a:r>
            <a:r>
              <a:rPr lang="en-US" dirty="0"/>
              <a:t> are separated by a space. Absolute time may indicate today's date with "-- " before the hours.</a:t>
            </a:r>
          </a:p>
          <a:p>
            <a:pPr lvl="1"/>
            <a:r>
              <a:rPr lang="en-US" dirty="0"/>
              <a:t>Example \”02-Aug-2022 12:05:30\” or \”– 12:05:30 \”</a:t>
            </a:r>
          </a:p>
          <a:p>
            <a:endParaRPr lang="en-US" dirty="0"/>
          </a:p>
          <a:p>
            <a:r>
              <a:rPr lang="en-US" dirty="0"/>
              <a:t>Delta format is day </a:t>
            </a:r>
            <a:r>
              <a:rPr lang="en-US" dirty="0" err="1"/>
              <a:t>hh:mm:ss</a:t>
            </a:r>
            <a:r>
              <a:rPr lang="en-US" dirty="0"/>
              <a:t>, indicating the number of days, hours, minutes, and seconds; where the day and the hours (</a:t>
            </a:r>
            <a:r>
              <a:rPr lang="en-US" dirty="0" err="1"/>
              <a:t>hh</a:t>
            </a:r>
            <a:r>
              <a:rPr lang="en-US" dirty="0"/>
              <a:t>) are separated by a space. If delta time is less than a day, it must start with zero (0) followed by a space.</a:t>
            </a:r>
          </a:p>
          <a:p>
            <a:pPr lvl="1"/>
            <a:r>
              <a:rPr lang="en-US" dirty="0"/>
              <a:t>Delta time is always relative to the maximum time of the last record in all journal files specified by arguments to the MUPIP JOURNAL command.</a:t>
            </a:r>
          </a:p>
          <a:p>
            <a:pPr lvl="1"/>
            <a:r>
              <a:rPr lang="en-US" dirty="0"/>
              <a:t>Example \” 0 01:00:00 \” would be one hour ago.</a:t>
            </a:r>
          </a:p>
          <a:p>
            <a:pPr lvl="1"/>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143EC78-7CED-C1DD-E424-0DBCFF895C2D}"/>
              </a:ext>
            </a:extLst>
          </p:cNvPr>
          <p:cNvSpPr>
            <a:spLocks noGrp="1"/>
          </p:cNvSpPr>
          <p:nvPr>
            <p:ph type="sldNum" sz="quarter" idx="10"/>
          </p:nvPr>
        </p:nvSpPr>
        <p:spPr/>
        <p:txBody>
          <a:bodyPr/>
          <a:lstStyle/>
          <a:p>
            <a:pPr>
              <a:defRPr/>
            </a:pPr>
            <a:fld id="{3AD1BE0A-9D7F-468C-B599-8AB35EA99D95}" type="slidenum">
              <a:rPr lang="en-US" smtClean="0"/>
              <a:pPr>
                <a:defRPr/>
              </a:pPr>
              <a:t>15</a:t>
            </a:fld>
            <a:endParaRPr lang="en-US"/>
          </a:p>
        </p:txBody>
      </p:sp>
    </p:spTree>
    <p:extLst>
      <p:ext uri="{BB962C8B-B14F-4D97-AF65-F5344CB8AC3E}">
        <p14:creationId xmlns:p14="http://schemas.microsoft.com/office/powerpoint/2010/main" val="3441141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92B02-E4D7-9CB5-5AF8-F72E77AC97C6}"/>
              </a:ext>
            </a:extLst>
          </p:cNvPr>
          <p:cNvSpPr>
            <a:spLocks noGrp="1"/>
          </p:cNvSpPr>
          <p:nvPr>
            <p:ph type="title"/>
          </p:nvPr>
        </p:nvSpPr>
        <p:spPr/>
        <p:txBody>
          <a:bodyPr/>
          <a:lstStyle/>
          <a:p>
            <a:r>
              <a:rPr lang="en-US" dirty="0"/>
              <a:t>GT.M Journaling Time Qualifiers</a:t>
            </a:r>
          </a:p>
        </p:txBody>
      </p:sp>
      <p:sp>
        <p:nvSpPr>
          <p:cNvPr id="3" name="Content Placeholder 2">
            <a:extLst>
              <a:ext uri="{FF2B5EF4-FFF2-40B4-BE49-F238E27FC236}">
                <a16:creationId xmlns:a16="http://schemas.microsoft.com/office/drawing/2014/main" id="{ECA607E7-D2B1-1807-BE29-723FF5F90C7B}"/>
              </a:ext>
            </a:extLst>
          </p:cNvPr>
          <p:cNvSpPr>
            <a:spLocks noGrp="1"/>
          </p:cNvSpPr>
          <p:nvPr>
            <p:ph idx="1"/>
          </p:nvPr>
        </p:nvSpPr>
        <p:spPr/>
        <p:txBody>
          <a:bodyPr/>
          <a:lstStyle/>
          <a:p>
            <a:r>
              <a:rPr lang="en-US" dirty="0"/>
              <a:t>-AFTER=time</a:t>
            </a:r>
          </a:p>
          <a:p>
            <a:pPr lvl="1"/>
            <a:r>
              <a:rPr lang="en-US" dirty="0"/>
              <a:t>Specifies the starting time stamp in the journal file after which any -FORWARD action should start processing. This time qualifier is compatible only with -EXTRACT,-SHOW, or -VERIFY.</a:t>
            </a:r>
          </a:p>
          <a:p>
            <a:pPr lvl="1"/>
            <a:r>
              <a:rPr lang="en-US" dirty="0"/>
              <a:t>Using -BEFORE with -AFTER restricts processing to a particular period of time in the journal file.</a:t>
            </a:r>
          </a:p>
          <a:p>
            <a:r>
              <a:rPr lang="en-US" dirty="0"/>
              <a:t>-BEFORE=time</a:t>
            </a:r>
          </a:p>
          <a:p>
            <a:pPr lvl="1"/>
            <a:r>
              <a:rPr lang="en-US" dirty="0"/>
              <a:t>Specifies the ending time for any action -FORWARD or -BACKWARD. The ending time is inclusive, that is, -BEFORE includes the records that match the specified ending time in the journal records. </a:t>
            </a:r>
          </a:p>
          <a:p>
            <a:r>
              <a:rPr lang="en-US" dirty="0"/>
              <a:t>-[NO]LOOKBACK_LIMIT=time</a:t>
            </a:r>
          </a:p>
          <a:p>
            <a:pPr lvl="1"/>
            <a:r>
              <a:rPr lang="en-US" dirty="0"/>
              <a:t>This option is applicable only for transactions fenced with ZTSTART and ZTCOMMIT. For transaction fenced with TSTART and TCOMMIT, -RECOVER always resolves open transaction fences.</a:t>
            </a:r>
          </a:p>
          <a:p>
            <a:pPr lvl="1"/>
            <a:r>
              <a:rPr lang="en-US" dirty="0"/>
              <a:t>FIS Profile does not use ZTSTART/ZTCOMMIT</a:t>
            </a:r>
          </a:p>
          <a:p>
            <a:pPr lvl="1"/>
            <a:r>
              <a:rPr lang="en-US" dirty="0"/>
              <a:t>Would not expect this qualifier to be utilized for Profile customers.</a:t>
            </a:r>
          </a:p>
          <a:p>
            <a:r>
              <a:rPr lang="en-US" dirty="0"/>
              <a:t>-SINCE=time</a:t>
            </a:r>
          </a:p>
          <a:p>
            <a:pPr lvl="1"/>
            <a:r>
              <a:rPr lang="en-US" dirty="0"/>
              <a:t>The -SINCE time qualifier applies to MUPIP JOURNAL -BACKWARD. </a:t>
            </a:r>
          </a:p>
          <a:p>
            <a:pPr lvl="1"/>
            <a:r>
              <a:rPr lang="en-US" dirty="0"/>
              <a:t>Specifies how far back in time MUPIP JOURNAL should at least process (from the end of the journal file), before starting the forward processing. </a:t>
            </a:r>
          </a:p>
          <a:p>
            <a:pPr lvl="1"/>
            <a:r>
              <a:rPr lang="en-US" dirty="0"/>
              <a:t>The actual turn-around point for -RECOVER and -ROLLBACK in each database region is an epoch in the journal files before or at the -SINCE time, but not after it.</a:t>
            </a:r>
          </a:p>
          <a:p>
            <a:pPr lvl="1"/>
            <a:r>
              <a:rPr lang="en-US" dirty="0"/>
              <a:t>The time specified references time stamps in the journal files. If there are open fenced transactions when JOURNAL -BACKWARD locates the -SINCE= time, it continues processing backward to resolve them, unless the command also specifies -FENCES=NONE.</a:t>
            </a:r>
          </a:p>
          <a:p>
            <a:pPr lvl="1"/>
            <a:r>
              <a:rPr lang="en-US" dirty="0"/>
              <a:t>By default, -SINCE= time is 0 00:00:00 which denotes the time at the end of the journal file (the time when the last journal record was updated).</a:t>
            </a:r>
          </a:p>
          <a:p>
            <a:endParaRPr lang="en-US" dirty="0"/>
          </a:p>
        </p:txBody>
      </p:sp>
      <p:sp>
        <p:nvSpPr>
          <p:cNvPr id="4" name="Slide Number Placeholder 3">
            <a:extLst>
              <a:ext uri="{FF2B5EF4-FFF2-40B4-BE49-F238E27FC236}">
                <a16:creationId xmlns:a16="http://schemas.microsoft.com/office/drawing/2014/main" id="{2AE91841-598B-F6E3-4007-8A84BD3C30CE}"/>
              </a:ext>
            </a:extLst>
          </p:cNvPr>
          <p:cNvSpPr>
            <a:spLocks noGrp="1"/>
          </p:cNvSpPr>
          <p:nvPr>
            <p:ph type="sldNum" sz="quarter" idx="10"/>
          </p:nvPr>
        </p:nvSpPr>
        <p:spPr/>
        <p:txBody>
          <a:bodyPr/>
          <a:lstStyle/>
          <a:p>
            <a:pPr>
              <a:defRPr/>
            </a:pPr>
            <a:fld id="{3AD1BE0A-9D7F-468C-B599-8AB35EA99D95}" type="slidenum">
              <a:rPr lang="en-US" smtClean="0"/>
              <a:pPr>
                <a:defRPr/>
              </a:pPr>
              <a:t>16</a:t>
            </a:fld>
            <a:endParaRPr lang="en-US"/>
          </a:p>
        </p:txBody>
      </p:sp>
    </p:spTree>
    <p:extLst>
      <p:ext uri="{BB962C8B-B14F-4D97-AF65-F5344CB8AC3E}">
        <p14:creationId xmlns:p14="http://schemas.microsoft.com/office/powerpoint/2010/main" val="11547108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819FF-8C9A-68E0-D44E-0B6903142FC8}"/>
              </a:ext>
            </a:extLst>
          </p:cNvPr>
          <p:cNvSpPr>
            <a:spLocks noGrp="1"/>
          </p:cNvSpPr>
          <p:nvPr>
            <p:ph type="title"/>
          </p:nvPr>
        </p:nvSpPr>
        <p:spPr/>
        <p:txBody>
          <a:bodyPr/>
          <a:lstStyle/>
          <a:p>
            <a:r>
              <a:rPr lang="en-US" dirty="0"/>
              <a:t>GT.M Journaling - Forward Recovery</a:t>
            </a:r>
          </a:p>
        </p:txBody>
      </p:sp>
      <p:sp>
        <p:nvSpPr>
          <p:cNvPr id="3" name="Content Placeholder 2">
            <a:extLst>
              <a:ext uri="{FF2B5EF4-FFF2-40B4-BE49-F238E27FC236}">
                <a16:creationId xmlns:a16="http://schemas.microsoft.com/office/drawing/2014/main" id="{5EF191B5-953D-9878-5566-D93E41CC3418}"/>
              </a:ext>
            </a:extLst>
          </p:cNvPr>
          <p:cNvSpPr>
            <a:spLocks noGrp="1"/>
          </p:cNvSpPr>
          <p:nvPr>
            <p:ph idx="1"/>
          </p:nvPr>
        </p:nvSpPr>
        <p:spPr>
          <a:xfrm>
            <a:off x="400050" y="1209675"/>
            <a:ext cx="8305800" cy="4953000"/>
          </a:xfrm>
        </p:spPr>
        <p:txBody>
          <a:bodyPr/>
          <a:lstStyle/>
          <a:p>
            <a:r>
              <a:rPr lang="en-US" dirty="0"/>
              <a:t>Only option if using NOBEFORE_IMAGE journaling</a:t>
            </a:r>
          </a:p>
          <a:p>
            <a:pPr lvl="1"/>
            <a:r>
              <a:rPr lang="en-US" dirty="0"/>
              <a:t>MUPIP JOURNAL –RECOVER –FORWARD –VERBOSE {time qualifiers} “*”</a:t>
            </a:r>
          </a:p>
          <a:p>
            <a:r>
              <a:rPr lang="en-US" dirty="0"/>
              <a:t>Forward recovery "replays" all database updates in forward direction till the specified point in the journal file. Forward recovery on a backup database starts from when the backup was taken and continues till the specified point in the journal files. Forward recovery on an empty database starts from the beginning of the journal files.</a:t>
            </a:r>
          </a:p>
          <a:p>
            <a:r>
              <a:rPr lang="en-US" dirty="0"/>
              <a:t>Suppose a system crash occurred at 08:50 </a:t>
            </a:r>
            <a:r>
              <a:rPr lang="en-US" dirty="0" err="1"/>
              <a:t>hrs</a:t>
            </a:r>
            <a:r>
              <a:rPr lang="en-US" dirty="0"/>
              <a:t> and a backup of the database was taken at 08:26 hrs. Using forward recovery, you can replay the database updates between 08:26 </a:t>
            </a:r>
            <a:r>
              <a:rPr lang="en-US" dirty="0" err="1"/>
              <a:t>hrs</a:t>
            </a:r>
            <a:r>
              <a:rPr lang="en-US" dirty="0"/>
              <a:t> to 8:50 </a:t>
            </a:r>
            <a:r>
              <a:rPr lang="en-US" dirty="0" err="1"/>
              <a:t>hrs</a:t>
            </a:r>
            <a:r>
              <a:rPr lang="en-US" dirty="0"/>
              <a:t> (in blue) on the backup copy of the database and restore the database to a state prior to the crash. In the following illustration, X denotes the crash time and the blue updates denote forward processing.</a:t>
            </a:r>
          </a:p>
          <a:p>
            <a:pPr marL="396875" lvl="1" indent="0">
              <a:buNone/>
            </a:pPr>
            <a:r>
              <a:rPr lang="en-US" dirty="0"/>
              <a:t>.A command like </a:t>
            </a:r>
            <a:r>
              <a:rPr lang="en-US" dirty="0" err="1"/>
              <a:t>mupip</a:t>
            </a:r>
            <a:r>
              <a:rPr lang="en-US" dirty="0"/>
              <a:t> journal -recover -forward -before="--8:50" </a:t>
            </a:r>
            <a:r>
              <a:rPr lang="en-US" dirty="0" err="1"/>
              <a:t>gtm.mjl</a:t>
            </a:r>
            <a:r>
              <a:rPr lang="en-US" dirty="0"/>
              <a:t> performs this operation</a:t>
            </a:r>
          </a:p>
          <a:p>
            <a:endParaRPr lang="en-US" dirty="0"/>
          </a:p>
        </p:txBody>
      </p:sp>
      <p:sp>
        <p:nvSpPr>
          <p:cNvPr id="4" name="Slide Number Placeholder 3">
            <a:extLst>
              <a:ext uri="{FF2B5EF4-FFF2-40B4-BE49-F238E27FC236}">
                <a16:creationId xmlns:a16="http://schemas.microsoft.com/office/drawing/2014/main" id="{BAE444AF-1941-F77B-6962-138B3DFA111F}"/>
              </a:ext>
            </a:extLst>
          </p:cNvPr>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3AD1BE0A-9D7F-468C-B599-8AB35EA99D95}" type="slidenum">
              <a:rPr kumimoji="0" lang="en-US" sz="900" b="0" i="0" u="none" strike="noStrike" kern="1200" cap="none" spc="0" normalizeH="0" baseline="0" noProof="0" smtClean="0">
                <a:ln>
                  <a:noFill/>
                </a:ln>
                <a:solidFill>
                  <a:srgbClr val="6E6F70"/>
                </a:solidFill>
                <a:effectLst/>
                <a:uLnTx/>
                <a:uFillTx/>
                <a:latin typeface="Arial" charset="0"/>
                <a:ea typeface="+mn-ea"/>
                <a:cs typeface="Arial" charset="0"/>
              </a:rPr>
              <a:pPr marL="0" marR="0" lvl="0" indent="0" algn="r" defTabSz="457200" rtl="0" eaLnBrk="1" fontAlgn="base" latinLnBrk="0" hangingPunct="1">
                <a:lnSpc>
                  <a:spcPct val="100000"/>
                </a:lnSpc>
                <a:spcBef>
                  <a:spcPct val="0"/>
                </a:spcBef>
                <a:spcAft>
                  <a:spcPct val="0"/>
                </a:spcAft>
                <a:buClrTx/>
                <a:buSzTx/>
                <a:buFontTx/>
                <a:buNone/>
                <a:tabLst/>
                <a:defRPr/>
              </a:pPr>
              <a:t>17</a:t>
            </a:fld>
            <a:endParaRPr kumimoji="0" lang="en-US" sz="900" b="0" i="0" u="none" strike="noStrike" kern="1200" cap="none" spc="0" normalizeH="0" baseline="0" noProof="0">
              <a:ln>
                <a:noFill/>
              </a:ln>
              <a:solidFill>
                <a:srgbClr val="6E6F70"/>
              </a:solidFill>
              <a:effectLst/>
              <a:uLnTx/>
              <a:uFillTx/>
              <a:latin typeface="Arial" charset="0"/>
              <a:ea typeface="+mn-ea"/>
              <a:cs typeface="Arial" charset="0"/>
            </a:endParaRPr>
          </a:p>
        </p:txBody>
      </p:sp>
      <p:pic>
        <p:nvPicPr>
          <p:cNvPr id="3082" name="Picture 10">
            <a:extLst>
              <a:ext uri="{FF2B5EF4-FFF2-40B4-BE49-F238E27FC236}">
                <a16:creationId xmlns:a16="http://schemas.microsoft.com/office/drawing/2014/main" id="{3422A6CC-A00D-638D-C520-4C9D1DEAC4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4191000"/>
            <a:ext cx="6943725" cy="186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3689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1F035-1A58-4891-F6CC-32F769F9305C}"/>
              </a:ext>
            </a:extLst>
          </p:cNvPr>
          <p:cNvSpPr>
            <a:spLocks noGrp="1"/>
          </p:cNvSpPr>
          <p:nvPr>
            <p:ph type="title"/>
          </p:nvPr>
        </p:nvSpPr>
        <p:spPr/>
        <p:txBody>
          <a:bodyPr/>
          <a:lstStyle/>
          <a:p>
            <a:r>
              <a:rPr lang="en-US" dirty="0"/>
              <a:t>GT.M Journaling – Backward Recovery</a:t>
            </a:r>
          </a:p>
        </p:txBody>
      </p:sp>
      <p:sp>
        <p:nvSpPr>
          <p:cNvPr id="3" name="Content Placeholder 2">
            <a:extLst>
              <a:ext uri="{FF2B5EF4-FFF2-40B4-BE49-F238E27FC236}">
                <a16:creationId xmlns:a16="http://schemas.microsoft.com/office/drawing/2014/main" id="{5FD1CAE9-2A21-E001-D917-5EAA0E485B1C}"/>
              </a:ext>
            </a:extLst>
          </p:cNvPr>
          <p:cNvSpPr>
            <a:spLocks noGrp="1"/>
          </p:cNvSpPr>
          <p:nvPr>
            <p:ph idx="1"/>
          </p:nvPr>
        </p:nvSpPr>
        <p:spPr/>
        <p:txBody>
          <a:bodyPr/>
          <a:lstStyle/>
          <a:p>
            <a:r>
              <a:rPr lang="en-US" dirty="0"/>
              <a:t>Only available if using BEFORE_IMAGE journaling</a:t>
            </a:r>
          </a:p>
          <a:p>
            <a:pPr lvl="1"/>
            <a:r>
              <a:rPr lang="en-US" dirty="0"/>
              <a:t>MUPIP JOURNAL –RECOVER –BACKWARD -VERBOSE {time qualifiers} “*”</a:t>
            </a:r>
          </a:p>
          <a:p>
            <a:r>
              <a:rPr lang="en-US" dirty="0"/>
              <a:t>Backward recovery restores a journaled database to a prior state. Backward processing starts by rolling back updates to a checkpoint (specified by -SINCE) prior to the desired state and replaying database updates forward till the desired state.</a:t>
            </a:r>
          </a:p>
          <a:p>
            <a:r>
              <a:rPr lang="en-US" dirty="0"/>
              <a:t>Suppose a system crash occurred at 10:35 </a:t>
            </a:r>
            <a:r>
              <a:rPr lang="en-US" dirty="0" err="1"/>
              <a:t>hrs</a:t>
            </a:r>
            <a:r>
              <a:rPr lang="en-US" dirty="0"/>
              <a:t>, a command like </a:t>
            </a:r>
            <a:r>
              <a:rPr lang="en-US" dirty="0" err="1"/>
              <a:t>mupip</a:t>
            </a:r>
            <a:r>
              <a:rPr lang="en-US" dirty="0"/>
              <a:t> journal recover backward -</a:t>
            </a:r>
            <a:r>
              <a:rPr lang="en-US" dirty="0" err="1"/>
              <a:t>lookback_limit</a:t>
            </a:r>
            <a:r>
              <a:rPr lang="en-US" dirty="0"/>
              <a:t>="TIME=0 10:10" -since="-- 10:20" -before="-- 10:30" performs backward recovery. The following illustration demonstrates how GT.M performs a recovery after a system crash at 10:35. Backward recovery "un-does" the database updates backward to 10:20, then applies updates forward until the crash. By adding -BEFORE="- - 10:30" to the command, the recovery stops when forward processing encounters updates that originally occurred after 10:30. </a:t>
            </a:r>
          </a:p>
          <a:p>
            <a:endParaRPr lang="en-US" dirty="0"/>
          </a:p>
        </p:txBody>
      </p:sp>
      <p:sp>
        <p:nvSpPr>
          <p:cNvPr id="4" name="Slide Number Placeholder 3">
            <a:extLst>
              <a:ext uri="{FF2B5EF4-FFF2-40B4-BE49-F238E27FC236}">
                <a16:creationId xmlns:a16="http://schemas.microsoft.com/office/drawing/2014/main" id="{538EF7B3-C3DD-A082-9D94-A9776F5A9C40}"/>
              </a:ext>
            </a:extLst>
          </p:cNvPr>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3AD1BE0A-9D7F-468C-B599-8AB35EA99D95}" type="slidenum">
              <a:rPr kumimoji="0" lang="en-US" sz="900" b="0" i="0" u="none" strike="noStrike" kern="1200" cap="none" spc="0" normalizeH="0" baseline="0" noProof="0" smtClean="0">
                <a:ln>
                  <a:noFill/>
                </a:ln>
                <a:solidFill>
                  <a:srgbClr val="6E6F70"/>
                </a:solidFill>
                <a:effectLst/>
                <a:uLnTx/>
                <a:uFillTx/>
                <a:latin typeface="Arial" charset="0"/>
                <a:ea typeface="+mn-ea"/>
                <a:cs typeface="Arial" charset="0"/>
              </a:rPr>
              <a:pPr marL="0" marR="0" lvl="0" indent="0" algn="r" defTabSz="457200" rtl="0" eaLnBrk="1" fontAlgn="base" latinLnBrk="0" hangingPunct="1">
                <a:lnSpc>
                  <a:spcPct val="100000"/>
                </a:lnSpc>
                <a:spcBef>
                  <a:spcPct val="0"/>
                </a:spcBef>
                <a:spcAft>
                  <a:spcPct val="0"/>
                </a:spcAft>
                <a:buClrTx/>
                <a:buSzTx/>
                <a:buFontTx/>
                <a:buNone/>
                <a:tabLst/>
                <a:defRPr/>
              </a:pPr>
              <a:t>18</a:t>
            </a:fld>
            <a:endParaRPr kumimoji="0" lang="en-US" sz="900" b="0" i="0" u="none" strike="noStrike" kern="1200" cap="none" spc="0" normalizeH="0" baseline="0" noProof="0">
              <a:ln>
                <a:noFill/>
              </a:ln>
              <a:solidFill>
                <a:srgbClr val="6E6F70"/>
              </a:solidFill>
              <a:effectLst/>
              <a:uLnTx/>
              <a:uFillTx/>
              <a:latin typeface="Arial" charset="0"/>
              <a:ea typeface="+mn-ea"/>
              <a:cs typeface="Arial" charset="0"/>
            </a:endParaRPr>
          </a:p>
        </p:txBody>
      </p:sp>
      <p:pic>
        <p:nvPicPr>
          <p:cNvPr id="4098" name="Picture 2">
            <a:extLst>
              <a:ext uri="{FF2B5EF4-FFF2-40B4-BE49-F238E27FC236}">
                <a16:creationId xmlns:a16="http://schemas.microsoft.com/office/drawing/2014/main" id="{33747451-8D69-9923-C23E-CCA08A92D3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5849" y="4038600"/>
            <a:ext cx="5600700" cy="1956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8569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GT.M Journaling Control Qualifiers</a:t>
            </a:r>
          </a:p>
        </p:txBody>
      </p:sp>
      <p:sp>
        <p:nvSpPr>
          <p:cNvPr id="3" name="Content Placeholder 2"/>
          <p:cNvSpPr>
            <a:spLocks noGrp="1"/>
          </p:cNvSpPr>
          <p:nvPr>
            <p:ph idx="1"/>
          </p:nvPr>
        </p:nvSpPr>
        <p:spPr>
          <a:xfrm>
            <a:off x="381000" y="1219200"/>
            <a:ext cx="8305800" cy="5105400"/>
          </a:xfrm>
        </p:spPr>
        <p:txBody>
          <a:bodyPr/>
          <a:lstStyle/>
          <a:p>
            <a:r>
              <a:rPr lang="en-US" dirty="0"/>
              <a:t>-[NO]APPLY_AFTER_IMAGES</a:t>
            </a:r>
          </a:p>
          <a:p>
            <a:pPr lvl="1"/>
            <a:r>
              <a:rPr lang="en-US" dirty="0"/>
              <a:t>Do not play updates made by DSE.  </a:t>
            </a:r>
          </a:p>
          <a:p>
            <a:pPr lvl="1"/>
            <a:r>
              <a:rPr lang="en-US" dirty="0"/>
              <a:t>Default is to replay if a backward recovery and do not replay if forward recovery</a:t>
            </a:r>
          </a:p>
          <a:p>
            <a:r>
              <a:rPr lang="en-US" dirty="0"/>
              <a:t>-BROKENTRANS</a:t>
            </a:r>
          </a:p>
          <a:p>
            <a:pPr lvl="1"/>
            <a:r>
              <a:rPr lang="en-US" dirty="0"/>
              <a:t>Optional qualifier to reference the location and file to place broken transactions</a:t>
            </a:r>
          </a:p>
          <a:p>
            <a:pPr lvl="1"/>
            <a:r>
              <a:rPr lang="en-US" dirty="0"/>
              <a:t>If a transaction is found with incomplete fence, it is considered incomplete or broken; i.e. if 4 regions were updated but only 3 regions were found during the recovery then those updates in the 3 regions are not placed in the database but placed in the ascii file.</a:t>
            </a:r>
          </a:p>
          <a:p>
            <a:pPr lvl="1"/>
            <a:r>
              <a:rPr lang="en-US" dirty="0"/>
              <a:t>If not used MUPIP JOURNAL creates a broken transaction file using the name of the current journal file being processed with a .broken extension, i.e. </a:t>
            </a:r>
            <a:r>
              <a:rPr lang="en-US" dirty="0" err="1"/>
              <a:t>ubg.broken</a:t>
            </a:r>
            <a:r>
              <a:rPr lang="en-US" dirty="0"/>
              <a:t>.</a:t>
            </a:r>
          </a:p>
          <a:p>
            <a:r>
              <a:rPr lang="en-US" dirty="0"/>
              <a:t>-LOSTTRAN</a:t>
            </a:r>
          </a:p>
          <a:p>
            <a:pPr lvl="1"/>
            <a:r>
              <a:rPr lang="en-US" dirty="0"/>
              <a:t>Optional qualifier to reference the location and file to place “lost” transactions</a:t>
            </a:r>
          </a:p>
          <a:p>
            <a:pPr lvl="1"/>
            <a:r>
              <a:rPr lang="en-US" dirty="0"/>
              <a:t>Transactions rolled off the database or during a recovery, transactions found after a broken transaction are considered lost; </a:t>
            </a:r>
          </a:p>
          <a:p>
            <a:pPr lvl="1"/>
            <a:r>
              <a:rPr lang="en-US" dirty="0"/>
              <a:t>If not used MUPIP JOURNAL creates a lost transaction file using the name of the current journal file being processed with a .lost extension. i.e. </a:t>
            </a:r>
            <a:r>
              <a:rPr lang="en-US" dirty="0" err="1"/>
              <a:t>ubg.lost</a:t>
            </a:r>
            <a:r>
              <a:rPr lang="en-US" dirty="0"/>
              <a:t>.</a:t>
            </a:r>
          </a:p>
          <a:p>
            <a:r>
              <a:rPr lang="en-US" dirty="0"/>
              <a:t>-[NO]CHAIN</a:t>
            </a:r>
          </a:p>
          <a:p>
            <a:pPr lvl="1"/>
            <a:r>
              <a:rPr lang="en-US" dirty="0"/>
              <a:t>Allow journaling to follow the journal chain – DEFAULT</a:t>
            </a:r>
          </a:p>
          <a:p>
            <a:r>
              <a:rPr lang="en-US" dirty="0"/>
              <a:t>-[NO]CHECKTN</a:t>
            </a:r>
          </a:p>
          <a:p>
            <a:pPr lvl="1"/>
            <a:r>
              <a:rPr lang="en-US" dirty="0"/>
              <a:t>Allow forward recovery to not check the starting transaction number with the database file</a:t>
            </a:r>
          </a:p>
          <a:p>
            <a:pPr lvl="1"/>
            <a:r>
              <a:rPr lang="en-US" dirty="0"/>
              <a:t>Use with caution because it may lead to application integrity issues in the recovered database.</a:t>
            </a:r>
          </a:p>
          <a:p>
            <a:r>
              <a:rPr lang="en-US" dirty="0"/>
              <a:t>-[NO]INTERACTIVE</a:t>
            </a:r>
          </a:p>
          <a:p>
            <a:pPr lvl="1"/>
            <a:r>
              <a:rPr lang="en-US" dirty="0"/>
              <a:t>Prompt on error limit</a:t>
            </a:r>
          </a:p>
          <a:p>
            <a:endParaRPr lang="en-US" dirty="0"/>
          </a:p>
        </p:txBody>
      </p:sp>
      <p:sp>
        <p:nvSpPr>
          <p:cNvPr id="4" name="Slide Number Placeholder 3"/>
          <p:cNvSpPr>
            <a:spLocks noGrp="1"/>
          </p:cNvSpPr>
          <p:nvPr>
            <p:ph type="sldNum" sz="quarter" idx="10"/>
          </p:nvPr>
        </p:nvSpPr>
        <p:spPr/>
        <p:txBody>
          <a:bodyPr/>
          <a:lstStyle/>
          <a:p>
            <a:fld id="{6EF4D2D5-8D6E-4623-930F-51CDEFA394B9}" type="slidenum">
              <a:rPr lang="en-US" smtClean="0"/>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2150D-5E3E-BD9E-7F54-B5396F46E288}"/>
              </a:ext>
            </a:extLst>
          </p:cNvPr>
          <p:cNvSpPr>
            <a:spLocks noGrp="1"/>
          </p:cNvSpPr>
          <p:nvPr>
            <p:ph type="title"/>
          </p:nvPr>
        </p:nvSpPr>
        <p:spPr/>
        <p:txBody>
          <a:bodyPr/>
          <a:lstStyle/>
          <a:p>
            <a:r>
              <a:rPr lang="en-US" dirty="0"/>
              <a:t>GT.M Journaling Control Qualifiers</a:t>
            </a:r>
          </a:p>
        </p:txBody>
      </p:sp>
      <p:sp>
        <p:nvSpPr>
          <p:cNvPr id="3" name="Content Placeholder 2">
            <a:extLst>
              <a:ext uri="{FF2B5EF4-FFF2-40B4-BE49-F238E27FC236}">
                <a16:creationId xmlns:a16="http://schemas.microsoft.com/office/drawing/2014/main" id="{1A991A09-E32A-6FD1-9365-17C547823B0D}"/>
              </a:ext>
            </a:extLst>
          </p:cNvPr>
          <p:cNvSpPr>
            <a:spLocks noGrp="1"/>
          </p:cNvSpPr>
          <p:nvPr>
            <p:ph idx="1"/>
          </p:nvPr>
        </p:nvSpPr>
        <p:spPr/>
        <p:txBody>
          <a:bodyPr/>
          <a:lstStyle/>
          <a:p>
            <a:r>
              <a:rPr lang="en-US" dirty="0"/>
              <a:t>-[NO]ERROR_LIMIT</a:t>
            </a:r>
          </a:p>
          <a:p>
            <a:pPr lvl="1"/>
            <a:r>
              <a:rPr lang="en-US" dirty="0"/>
              <a:t>Specifies the number of errors that MUPIP JOURNAL processing accepts. </a:t>
            </a:r>
          </a:p>
          <a:p>
            <a:pPr lvl="1"/>
            <a:r>
              <a:rPr lang="en-US" dirty="0"/>
              <a:t>Note that, -NOERROR_LIMIT is not the same as -ERROR_LIMIT=0.</a:t>
            </a:r>
          </a:p>
          <a:p>
            <a:pPr lvl="1"/>
            <a:r>
              <a:rPr lang="en-US" dirty="0"/>
              <a:t>By default, MUPIP JOURNAL uses -ERROR_LIMIT=0, causing the first error to initiate the appropriate error action</a:t>
            </a:r>
          </a:p>
          <a:p>
            <a:r>
              <a:rPr lang="en-US" dirty="0"/>
              <a:t>-FENSES</a:t>
            </a:r>
          </a:p>
          <a:p>
            <a:pPr lvl="1"/>
            <a:r>
              <a:rPr lang="en-US" dirty="0"/>
              <a:t>NONE : Do not look at fences (TSTART/TCOMMIT)</a:t>
            </a:r>
          </a:p>
          <a:p>
            <a:pPr lvl="1"/>
            <a:r>
              <a:rPr lang="en-US" dirty="0"/>
              <a:t>ALWAYS : If an update without a TSTART/TCOMMIT place in broken file</a:t>
            </a:r>
          </a:p>
          <a:p>
            <a:pPr lvl="1"/>
            <a:r>
              <a:rPr lang="en-US" dirty="0"/>
              <a:t>PROCESS : Treat a non-TSTART/TCOMMIT update as a normal update and use TSTART/TCOMMIT if used.</a:t>
            </a:r>
          </a:p>
          <a:p>
            <a:pPr lvl="2"/>
            <a:r>
              <a:rPr lang="en-US" dirty="0"/>
              <a:t>DEFAULT</a:t>
            </a:r>
          </a:p>
          <a:p>
            <a:r>
              <a:rPr lang="en-US" dirty="0"/>
              <a:t>-VERBOSE</a:t>
            </a:r>
          </a:p>
          <a:p>
            <a:pPr lvl="1"/>
            <a:r>
              <a:rPr lang="en-US" dirty="0"/>
              <a:t>Provide additional information when processing</a:t>
            </a:r>
          </a:p>
          <a:p>
            <a:r>
              <a:rPr lang="en-US" dirty="0"/>
              <a:t>-FULL</a:t>
            </a:r>
          </a:p>
          <a:p>
            <a:pPr lvl="1"/>
            <a:r>
              <a:rPr lang="en-US" dirty="0"/>
              <a:t>Qualifier is compatible with -EXTRACT only</a:t>
            </a:r>
          </a:p>
          <a:p>
            <a:pPr lvl="1"/>
            <a:r>
              <a:rPr lang="en-US" dirty="0"/>
              <a:t>MUPIP extracts the entire journal file contents (including those records that were rolled back). </a:t>
            </a:r>
          </a:p>
          <a:p>
            <a:pPr lvl="1"/>
            <a:r>
              <a:rPr lang="en-US" dirty="0"/>
              <a:t>This qualifier is to be used only as a diagnostic tool and not in normal operation.</a:t>
            </a:r>
          </a:p>
          <a:p>
            <a:r>
              <a:rPr lang="en-US" dirty="0"/>
              <a:t>-REDIRECT </a:t>
            </a:r>
          </a:p>
          <a:p>
            <a:pPr lvl="1"/>
            <a:r>
              <a:rPr lang="en-US" dirty="0"/>
              <a:t>Can be used to create or maintain databases for training or testing.</a:t>
            </a:r>
          </a:p>
          <a:p>
            <a:pPr lvl="1"/>
            <a:r>
              <a:rPr lang="en-US" dirty="0"/>
              <a:t>This qualifier applies to -RECOVER action and -FORWARD direction qualifier only. JOURNAL rejects -REDIRECT unless it appears with -RECOVER.</a:t>
            </a:r>
          </a:p>
          <a:p>
            <a:pPr lvl="1"/>
            <a:r>
              <a:rPr lang="en-US" dirty="0"/>
              <a:t>The file-pair-list consists of one or more pairs of file-names enclosed in parentheses () and separated by commas (,). The pairs are separated by an equal sign in the form:</a:t>
            </a:r>
          </a:p>
          <a:p>
            <a:pPr lvl="2"/>
            <a:r>
              <a:rPr lang="en-US" dirty="0"/>
              <a:t>old-file-name=new-file-name</a:t>
            </a:r>
          </a:p>
          <a:p>
            <a:endParaRPr lang="en-US" dirty="0"/>
          </a:p>
        </p:txBody>
      </p:sp>
      <p:sp>
        <p:nvSpPr>
          <p:cNvPr id="4" name="Slide Number Placeholder 3">
            <a:extLst>
              <a:ext uri="{FF2B5EF4-FFF2-40B4-BE49-F238E27FC236}">
                <a16:creationId xmlns:a16="http://schemas.microsoft.com/office/drawing/2014/main" id="{6BAF28A7-AD6E-2B19-7066-B6059FA2AF8B}"/>
              </a:ext>
            </a:extLst>
          </p:cNvPr>
          <p:cNvSpPr>
            <a:spLocks noGrp="1"/>
          </p:cNvSpPr>
          <p:nvPr>
            <p:ph type="sldNum" sz="quarter" idx="10"/>
          </p:nvPr>
        </p:nvSpPr>
        <p:spPr/>
        <p:txBody>
          <a:bodyPr/>
          <a:lstStyle/>
          <a:p>
            <a:pPr>
              <a:defRPr/>
            </a:pPr>
            <a:fld id="{3AD1BE0A-9D7F-468C-B599-8AB35EA99D95}" type="slidenum">
              <a:rPr lang="en-US" smtClean="0"/>
              <a:pPr>
                <a:defRPr/>
              </a:pPr>
              <a:t>20</a:t>
            </a:fld>
            <a:endParaRPr lang="en-US"/>
          </a:p>
        </p:txBody>
      </p:sp>
    </p:spTree>
    <p:extLst>
      <p:ext uri="{BB962C8B-B14F-4D97-AF65-F5344CB8AC3E}">
        <p14:creationId xmlns:p14="http://schemas.microsoft.com/office/powerpoint/2010/main" val="3108119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GT.M Journaling – Verification Review</a:t>
            </a:r>
          </a:p>
        </p:txBody>
      </p:sp>
      <p:sp>
        <p:nvSpPr>
          <p:cNvPr id="3" name="Content Placeholder 2"/>
          <p:cNvSpPr>
            <a:spLocks noGrp="1"/>
          </p:cNvSpPr>
          <p:nvPr>
            <p:ph idx="1"/>
          </p:nvPr>
        </p:nvSpPr>
        <p:spPr/>
        <p:txBody>
          <a:bodyPr/>
          <a:lstStyle/>
          <a:p>
            <a:pPr lvl="2"/>
            <a:endParaRPr lang="en-US" dirty="0"/>
          </a:p>
          <a:p>
            <a:r>
              <a:rPr lang="en-US" dirty="0"/>
              <a:t>Journal Recovery Verification</a:t>
            </a:r>
          </a:p>
          <a:p>
            <a:pPr lvl="1"/>
            <a:r>
              <a:rPr lang="en-US" dirty="0"/>
              <a:t>Upon a recovery a user should review the ./replication directory and look for .</a:t>
            </a:r>
            <a:r>
              <a:rPr lang="en-US" i="1" dirty="0"/>
              <a:t>broken</a:t>
            </a:r>
            <a:r>
              <a:rPr lang="en-US" dirty="0"/>
              <a:t> or .</a:t>
            </a:r>
            <a:r>
              <a:rPr lang="en-US" i="1" dirty="0"/>
              <a:t>lost</a:t>
            </a:r>
            <a:r>
              <a:rPr lang="en-US" dirty="0"/>
              <a:t> files.</a:t>
            </a:r>
            <a:endParaRPr lang="en-US" b="1" u="sng" dirty="0"/>
          </a:p>
          <a:p>
            <a:pPr lvl="2"/>
            <a:r>
              <a:rPr lang="en-US" i="1" dirty="0" err="1"/>
              <a:t>rollback_recovery.broken</a:t>
            </a:r>
            <a:endParaRPr lang="en-US" dirty="0"/>
          </a:p>
          <a:p>
            <a:pPr lvl="3"/>
            <a:r>
              <a:rPr lang="en-US" dirty="0"/>
              <a:t>Any transactions that could not be reapplied to the database due to missing updates in the journal file will be written to this file</a:t>
            </a:r>
          </a:p>
          <a:p>
            <a:pPr lvl="3"/>
            <a:r>
              <a:rPr lang="en-US" dirty="0"/>
              <a:t>For online or Client Server (CS) transactions: There can only be one update in the .broken file per server (or M) process, and the update would not have made the database</a:t>
            </a:r>
          </a:p>
          <a:p>
            <a:pPr lvl="3"/>
            <a:r>
              <a:rPr lang="en-US" dirty="0"/>
              <a:t>For Batch (BA) transactions and unlabeled transactions (not qualified as CS or BA): There could be many entries based upon epoch interval and intervening CS transactions</a:t>
            </a:r>
          </a:p>
          <a:p>
            <a:pPr lvl="2"/>
            <a:r>
              <a:rPr lang="en-US" i="1" dirty="0"/>
              <a:t>rollback_recovery.dat(.lost)</a:t>
            </a:r>
            <a:endParaRPr lang="en-US" b="1" u="sng" dirty="0"/>
          </a:p>
          <a:p>
            <a:pPr lvl="3"/>
            <a:r>
              <a:rPr lang="en-US" dirty="0"/>
              <a:t>Any transactions that occurred after the broken transaction will be written to this file. The contents of this file should only be BA or unlabeled transactions</a:t>
            </a:r>
          </a:p>
          <a:p>
            <a:pPr lvl="3"/>
            <a:r>
              <a:rPr lang="en-US" dirty="0"/>
              <a:t>If there are CS transactions, call your support contacts for review</a:t>
            </a:r>
          </a:p>
          <a:p>
            <a:pPr lvl="1"/>
            <a:r>
              <a:rPr lang="en-US" dirty="0"/>
              <a:t>NOTE: If not using core </a:t>
            </a:r>
            <a:r>
              <a:rPr lang="en-US" dirty="0" err="1"/>
              <a:t>sca_pa_startup</a:t>
            </a:r>
            <a:r>
              <a:rPr lang="en-US" dirty="0"/>
              <a:t> script the .broken and/or .lost files could be located in any of the journal file locations – check the recovery output for exact name and location.</a:t>
            </a:r>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EF4D2D5-8D6E-4623-930F-51CDEFA394B9}" type="slidenum">
              <a:rPr kumimoji="0" lang="en-US" sz="900" b="0" i="0" u="none" strike="noStrike" kern="1200" cap="none" spc="0" normalizeH="0" baseline="0" noProof="0" smtClean="0">
                <a:ln>
                  <a:noFill/>
                </a:ln>
                <a:solidFill>
                  <a:srgbClr val="6E6F70"/>
                </a:solidFill>
                <a:effectLst/>
                <a:uLnTx/>
                <a:uFillTx/>
                <a:latin typeface="Arial" charset="0"/>
                <a:ea typeface="+mn-ea"/>
                <a:cs typeface="Arial" charset="0"/>
              </a:rPr>
              <a:pPr marL="0" marR="0" lvl="0" indent="0" algn="r" defTabSz="457200" rtl="0" eaLnBrk="1" fontAlgn="base" latinLnBrk="0" hangingPunct="1">
                <a:lnSpc>
                  <a:spcPct val="100000"/>
                </a:lnSpc>
                <a:spcBef>
                  <a:spcPct val="0"/>
                </a:spcBef>
                <a:spcAft>
                  <a:spcPct val="0"/>
                </a:spcAft>
                <a:buClrTx/>
                <a:buSzTx/>
                <a:buFontTx/>
                <a:buNone/>
                <a:tabLst/>
                <a:defRPr/>
              </a:pPr>
              <a:t>21</a:t>
            </a:fld>
            <a:endParaRPr kumimoji="0" lang="en-US" sz="900" b="0" i="0" u="none" strike="noStrike" kern="1200" cap="none" spc="0" normalizeH="0" baseline="0" noProof="0" dirty="0">
              <a:ln>
                <a:noFill/>
              </a:ln>
              <a:solidFill>
                <a:srgbClr val="6E6F70"/>
              </a:solidFill>
              <a:effectLst/>
              <a:uLnTx/>
              <a:uFillTx/>
              <a:latin typeface="Arial" charset="0"/>
              <a:ea typeface="+mn-ea"/>
              <a:cs typeface="Arial" charset="0"/>
            </a:endParaRPr>
          </a:p>
        </p:txBody>
      </p:sp>
    </p:spTree>
    <p:extLst>
      <p:ext uri="{BB962C8B-B14F-4D97-AF65-F5344CB8AC3E}">
        <p14:creationId xmlns:p14="http://schemas.microsoft.com/office/powerpoint/2010/main" val="2571648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GT.M Journaling Selection Qualifiers</a:t>
            </a:r>
          </a:p>
        </p:txBody>
      </p:sp>
      <p:sp>
        <p:nvSpPr>
          <p:cNvPr id="3" name="Content Placeholder 2"/>
          <p:cNvSpPr>
            <a:spLocks noGrp="1"/>
          </p:cNvSpPr>
          <p:nvPr>
            <p:ph idx="1"/>
          </p:nvPr>
        </p:nvSpPr>
        <p:spPr/>
        <p:txBody>
          <a:bodyPr/>
          <a:lstStyle/>
          <a:p>
            <a:r>
              <a:rPr lang="en-US" dirty="0"/>
              <a:t>-GLOBAL</a:t>
            </a:r>
          </a:p>
          <a:p>
            <a:pPr lvl="1"/>
            <a:r>
              <a:rPr lang="en-US" dirty="0"/>
              <a:t>Specifies </a:t>
            </a:r>
            <a:r>
              <a:rPr lang="en-US" dirty="0" err="1"/>
              <a:t>globals</a:t>
            </a:r>
            <a:r>
              <a:rPr lang="en-US" dirty="0"/>
              <a:t> for MUPIP JOURNAL to include or exclude from processing. You might find this qualifier useful for extracting and analyzing specific data.</a:t>
            </a:r>
          </a:p>
          <a:p>
            <a:pPr lvl="1"/>
            <a:r>
              <a:rPr lang="en-US" dirty="0"/>
              <a:t>The global-list contains one or more global-names (without subscripts) preceded by a caret symbol (^). To include more than one global use one of the following syntaxes.</a:t>
            </a:r>
          </a:p>
          <a:p>
            <a:pPr marL="741363" lvl="2" indent="0">
              <a:buNone/>
            </a:pPr>
            <a:r>
              <a:rPr lang="en-US" dirty="0"/>
              <a:t>$ </a:t>
            </a:r>
            <a:r>
              <a:rPr lang="en-US" dirty="0" err="1"/>
              <a:t>mupip</a:t>
            </a:r>
            <a:r>
              <a:rPr lang="en-US" dirty="0"/>
              <a:t> journal -forward -extract -global="^A*,^C" </a:t>
            </a:r>
            <a:r>
              <a:rPr lang="en-US" dirty="0" err="1"/>
              <a:t>mumps.mjl</a:t>
            </a:r>
            <a:r>
              <a:rPr lang="en-US" dirty="0"/>
              <a:t> </a:t>
            </a:r>
          </a:p>
          <a:p>
            <a:pPr marL="741363" lvl="2" indent="0">
              <a:buNone/>
            </a:pPr>
            <a:r>
              <a:rPr lang="en-US" dirty="0"/>
              <a:t>or</a:t>
            </a:r>
          </a:p>
          <a:p>
            <a:pPr marL="741363" lvl="2" indent="0">
              <a:buNone/>
            </a:pPr>
            <a:r>
              <a:rPr lang="en-US" dirty="0"/>
              <a:t>$ </a:t>
            </a:r>
            <a:r>
              <a:rPr lang="en-US" dirty="0" err="1"/>
              <a:t>mupip</a:t>
            </a:r>
            <a:r>
              <a:rPr lang="en-US" dirty="0"/>
              <a:t> journal -forward -extract -global="(^A*,^C)" </a:t>
            </a:r>
            <a:r>
              <a:rPr lang="en-US" dirty="0" err="1"/>
              <a:t>mumps.mjl</a:t>
            </a:r>
            <a:r>
              <a:rPr lang="en-US" dirty="0"/>
              <a:t> </a:t>
            </a:r>
          </a:p>
          <a:p>
            <a:pPr lvl="1"/>
            <a:r>
              <a:rPr lang="en-US" dirty="0"/>
              <a:t>The names may include the asterisk (*) wildcard. That is, -GLOBAL="^A*" selects all global variables with names starting with A. The entire list or each name may optionally be preceded by a </a:t>
            </a:r>
            <a:r>
              <a:rPr lang="en-US" dirty="0" err="1"/>
              <a:t>tilda</a:t>
            </a:r>
            <a:r>
              <a:rPr lang="en-US" dirty="0"/>
              <a:t> sign (~), requiring JOURNAL to exclude database updates to the specified global(s). When the global-list with a MUPIP JOURNAL -GLOBAL does not start with a </a:t>
            </a:r>
            <a:r>
              <a:rPr lang="en-US" dirty="0" err="1"/>
              <a:t>tilda</a:t>
            </a:r>
            <a:r>
              <a:rPr lang="en-US" dirty="0"/>
              <a:t> sign (~), JOURNAL processes only the explicitly named </a:t>
            </a:r>
            <a:r>
              <a:rPr lang="en-US" dirty="0" err="1"/>
              <a:t>globals</a:t>
            </a:r>
            <a:r>
              <a:rPr lang="en-US" dirty="0"/>
              <a:t>. </a:t>
            </a:r>
          </a:p>
          <a:p>
            <a:pPr lvl="1"/>
            <a:r>
              <a:rPr lang="en-US" dirty="0"/>
              <a:t>By default, JOURNAL processes all </a:t>
            </a:r>
            <a:r>
              <a:rPr lang="en-US" dirty="0" err="1"/>
              <a:t>globals</a:t>
            </a:r>
            <a:r>
              <a:rPr lang="en-US" dirty="0"/>
              <a:t>.</a:t>
            </a:r>
          </a:p>
          <a:p>
            <a:pPr lvl="1"/>
            <a:r>
              <a:rPr lang="en-US" dirty="0"/>
              <a:t>To specify subscripts, using -GLOBAL="^A(1)" results in all keys under the ^A(1) tree to be included, that is, it is equivalent to using -GLOBAL="^A(1,*)". An asterisk (*) or a percent (%) anywhere in the global specification is permitted. Percent (%) matches any character, and asterisk (*) matches any string (possibly zero length too). </a:t>
            </a:r>
          </a:p>
          <a:p>
            <a:r>
              <a:rPr lang="en-US" dirty="0"/>
              <a:t>-GVPATFILE</a:t>
            </a:r>
          </a:p>
          <a:p>
            <a:pPr lvl="1"/>
            <a:r>
              <a:rPr lang="en-US" dirty="0"/>
              <a:t>Specifies the location of a pattern file containing a list of patterns for all types of SET journal records that MUPIP JOURNAL -EXTRACT should include or exclude from processing. Use this qualifier to restrict the output of a journal extract by global nodes value (that is, by all types of SET records)</a:t>
            </a:r>
          </a:p>
          <a:p>
            <a:pPr lvl="1"/>
            <a:r>
              <a:rPr lang="en-US" dirty="0"/>
              <a:t>It’s a file that allows the above pattern’s to be used from a file</a:t>
            </a:r>
          </a:p>
          <a:p>
            <a:r>
              <a:rPr lang="en-US" dirty="0"/>
              <a:t>See the GT.M Administration and Operations Guide : GT.M Journaling Chapter for more information on using –GLOBAL and –GVPATFILE.</a:t>
            </a:r>
          </a:p>
        </p:txBody>
      </p:sp>
      <p:sp>
        <p:nvSpPr>
          <p:cNvPr id="4" name="Slide Number Placeholder 3"/>
          <p:cNvSpPr>
            <a:spLocks noGrp="1"/>
          </p:cNvSpPr>
          <p:nvPr>
            <p:ph type="sldNum" sz="quarter" idx="10"/>
          </p:nvPr>
        </p:nvSpPr>
        <p:spPr/>
        <p:txBody>
          <a:bodyPr/>
          <a:lstStyle/>
          <a:p>
            <a:fld id="{6EF4D2D5-8D6E-4623-930F-51CDEFA394B9}" type="slidenum">
              <a:rPr lang="en-US" smtClean="0"/>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A9F2A-48C8-62B8-45DC-B92228F84067}"/>
              </a:ext>
            </a:extLst>
          </p:cNvPr>
          <p:cNvSpPr>
            <a:spLocks noGrp="1"/>
          </p:cNvSpPr>
          <p:nvPr>
            <p:ph type="title"/>
          </p:nvPr>
        </p:nvSpPr>
        <p:spPr/>
        <p:txBody>
          <a:bodyPr/>
          <a:lstStyle/>
          <a:p>
            <a:r>
              <a:rPr lang="en-US" dirty="0"/>
              <a:t>GT.M Journaling Selection Qualifiers</a:t>
            </a:r>
          </a:p>
        </p:txBody>
      </p:sp>
      <p:sp>
        <p:nvSpPr>
          <p:cNvPr id="3" name="Content Placeholder 2">
            <a:extLst>
              <a:ext uri="{FF2B5EF4-FFF2-40B4-BE49-F238E27FC236}">
                <a16:creationId xmlns:a16="http://schemas.microsoft.com/office/drawing/2014/main" id="{5D2063AB-34A9-D016-6E4C-59E74EEF7D16}"/>
              </a:ext>
            </a:extLst>
          </p:cNvPr>
          <p:cNvSpPr>
            <a:spLocks noGrp="1"/>
          </p:cNvSpPr>
          <p:nvPr>
            <p:ph idx="1"/>
          </p:nvPr>
        </p:nvSpPr>
        <p:spPr/>
        <p:txBody>
          <a:bodyPr/>
          <a:lstStyle/>
          <a:p>
            <a:r>
              <a:rPr lang="en-US" dirty="0"/>
              <a:t>-ID</a:t>
            </a:r>
          </a:p>
          <a:p>
            <a:pPr lvl="1"/>
            <a:r>
              <a:rPr lang="en-US" dirty="0"/>
              <a:t>Specifies that JOURNAL processing include or exclude database updates generated by one or more processes, identified by process identification numbers (PIDs). The entire list or each PID may optionally be preceded by a </a:t>
            </a:r>
            <a:r>
              <a:rPr lang="en-US" dirty="0" err="1"/>
              <a:t>tilda</a:t>
            </a:r>
            <a:r>
              <a:rPr lang="en-US" dirty="0"/>
              <a:t> sign (~), requiring JOURNAL to exclude database updates initiated by the specified PID. You may use this qualifier for trouble shooting or analyzing data.</a:t>
            </a:r>
          </a:p>
          <a:p>
            <a:pPr lvl="1"/>
            <a:r>
              <a:rPr lang="en-US" dirty="0"/>
              <a:t>By default, JOURNAL processes database updates regardless of the PID that initiated it.</a:t>
            </a:r>
          </a:p>
          <a:p>
            <a:r>
              <a:rPr lang="en-US" dirty="0"/>
              <a:t>-TRANSACTION</a:t>
            </a:r>
          </a:p>
          <a:p>
            <a:pPr lvl="1"/>
            <a:r>
              <a:rPr lang="en-US" dirty="0"/>
              <a:t>Specifies transaction-types for JOURNAL to include or exclude from processing. For example, you may use this qualifier to report only on KILL operations to locate possible causes for missing data.</a:t>
            </a:r>
          </a:p>
          <a:p>
            <a:pPr lvl="1"/>
            <a:r>
              <a:rPr lang="en-US" dirty="0"/>
              <a:t>The transaction-types are SET and KILL and can be negated. These types correspond to the M commands of the same names. When the transaction-type with a JOURNAL -TRANSACTION is not negated, JOURNAL processes only transactions of the type named (for example, -TRANSACTION=KILL), whereas if it is negated, JOURNAL does not process transactions of the type named (for </a:t>
            </a:r>
            <a:r>
              <a:rPr lang="en-US" dirty="0" err="1"/>
              <a:t>examaple</a:t>
            </a:r>
            <a:r>
              <a:rPr lang="en-US" dirty="0"/>
              <a:t>, -TRANSACTION=NOKILL).</a:t>
            </a:r>
          </a:p>
          <a:p>
            <a:pPr lvl="1"/>
            <a:r>
              <a:rPr lang="en-US" dirty="0"/>
              <a:t>By default, JOURNAL processes transactions, regardless of its type.</a:t>
            </a:r>
          </a:p>
          <a:p>
            <a:r>
              <a:rPr lang="en-US" dirty="0"/>
              <a:t>-USER</a:t>
            </a:r>
          </a:p>
          <a:p>
            <a:pPr lvl="1"/>
            <a:r>
              <a:rPr lang="en-US" dirty="0"/>
              <a:t>Specifies that MUPIP JOURNAL processing include or exclude database updates generated by one or more users. You can use this qualifier to audit the actions of a particular user. The user-list contains names of one or more users. Indicate multiple users by separating the names with commas (,). The names may include the wildcard asterisk (*). The entire list or each name may optionally be preceded by a minus sign (-) </a:t>
            </a:r>
            <a:r>
              <a:rPr lang="en-US" dirty="0" err="1"/>
              <a:t>tilda</a:t>
            </a:r>
            <a:r>
              <a:rPr lang="en-US" dirty="0"/>
              <a:t> sign (~), requiring JOURNAL to exclude database updates initiated by the specified user(s). When the user-list with a JOURNAL -USER does not start with a </a:t>
            </a:r>
            <a:r>
              <a:rPr lang="en-US" dirty="0" err="1"/>
              <a:t>tilda</a:t>
            </a:r>
            <a:r>
              <a:rPr lang="en-US" dirty="0"/>
              <a:t> sign (~), JOURNAL processes only those database updates, which are generated by explicitly named users. The asterisk (*) or percent (%) specification can be used for -USER qualifier. Percent (%) matches any character, and asterisk (*) matches any string (possibly zero length too).</a:t>
            </a:r>
          </a:p>
          <a:p>
            <a:pPr lvl="1"/>
            <a:r>
              <a:rPr lang="en-US" dirty="0"/>
              <a:t>By default, JOURNAL processes database updates regardless of the user who initiated them.</a:t>
            </a:r>
          </a:p>
          <a:p>
            <a:endParaRPr lang="en-US" dirty="0"/>
          </a:p>
        </p:txBody>
      </p:sp>
      <p:sp>
        <p:nvSpPr>
          <p:cNvPr id="4" name="Slide Number Placeholder 3">
            <a:extLst>
              <a:ext uri="{FF2B5EF4-FFF2-40B4-BE49-F238E27FC236}">
                <a16:creationId xmlns:a16="http://schemas.microsoft.com/office/drawing/2014/main" id="{A4E8B22F-01D5-1141-93BA-9094E0E473C8}"/>
              </a:ext>
            </a:extLst>
          </p:cNvPr>
          <p:cNvSpPr>
            <a:spLocks noGrp="1"/>
          </p:cNvSpPr>
          <p:nvPr>
            <p:ph type="sldNum" sz="quarter" idx="10"/>
          </p:nvPr>
        </p:nvSpPr>
        <p:spPr/>
        <p:txBody>
          <a:bodyPr/>
          <a:lstStyle/>
          <a:p>
            <a:pPr>
              <a:defRPr/>
            </a:pPr>
            <a:fld id="{3AD1BE0A-9D7F-468C-B599-8AB35EA99D95}" type="slidenum">
              <a:rPr lang="en-US" smtClean="0"/>
              <a:pPr>
                <a:defRPr/>
              </a:pPr>
              <a:t>23</a:t>
            </a:fld>
            <a:endParaRPr lang="en-US"/>
          </a:p>
        </p:txBody>
      </p:sp>
    </p:spTree>
    <p:extLst>
      <p:ext uri="{BB962C8B-B14F-4D97-AF65-F5344CB8AC3E}">
        <p14:creationId xmlns:p14="http://schemas.microsoft.com/office/powerpoint/2010/main" val="30135021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07C04-F2C8-C8C4-3299-BE906EEA4083}"/>
              </a:ext>
            </a:extLst>
          </p:cNvPr>
          <p:cNvSpPr>
            <a:spLocks noGrp="1"/>
          </p:cNvSpPr>
          <p:nvPr>
            <p:ph type="title"/>
          </p:nvPr>
        </p:nvSpPr>
        <p:spPr/>
        <p:txBody>
          <a:bodyPr/>
          <a:lstStyle/>
          <a:p>
            <a:r>
              <a:rPr lang="en-US" dirty="0"/>
              <a:t>GT.M Journaling</a:t>
            </a:r>
            <a:br>
              <a:rPr lang="en-US" dirty="0"/>
            </a:br>
            <a:r>
              <a:rPr lang="en-US" dirty="0"/>
              <a:t>Performance review</a:t>
            </a:r>
          </a:p>
        </p:txBody>
      </p:sp>
      <p:sp>
        <p:nvSpPr>
          <p:cNvPr id="3" name="Content Placeholder 2">
            <a:extLst>
              <a:ext uri="{FF2B5EF4-FFF2-40B4-BE49-F238E27FC236}">
                <a16:creationId xmlns:a16="http://schemas.microsoft.com/office/drawing/2014/main" id="{C3683B02-8904-BC30-93CA-09285182CEB3}"/>
              </a:ext>
            </a:extLst>
          </p:cNvPr>
          <p:cNvSpPr>
            <a:spLocks noGrp="1"/>
          </p:cNvSpPr>
          <p:nvPr>
            <p:ph idx="1"/>
          </p:nvPr>
        </p:nvSpPr>
        <p:spPr/>
        <p:txBody>
          <a:bodyPr/>
          <a:lstStyle/>
          <a:p>
            <a:r>
              <a:rPr lang="en-US" dirty="0"/>
              <a:t>If the customer does not require a backward recovery model for a SECONDARY consider Journaling type of MLEVEL (NOBEFORE) as MLEVEL journaling is much less IO intensive (i.e. a re-creatable reporting server)</a:t>
            </a:r>
          </a:p>
          <a:p>
            <a:endParaRPr lang="en-US" dirty="0"/>
          </a:p>
          <a:p>
            <a:r>
              <a:rPr lang="en-US" dirty="0"/>
              <a:t>Keep GT.M Journal files manageable but high volume might require larger files to limit journal file switching.  Usually an allocation of  2GB (4,194,304) is sufficient.</a:t>
            </a:r>
          </a:p>
          <a:p>
            <a:endParaRPr lang="en-US" dirty="0"/>
          </a:p>
          <a:p>
            <a:r>
              <a:rPr lang="en-US" dirty="0"/>
              <a:t>Journal buffers default of 3000 is usually sufficient. Specifies the amount of memory used to buffer journal file.  Have not seen any performance impacts based on size</a:t>
            </a:r>
          </a:p>
          <a:p>
            <a:endParaRPr lang="en-US" dirty="0"/>
          </a:p>
          <a:p>
            <a:r>
              <a:rPr lang="en-US" dirty="0"/>
              <a:t>[NO]SYNC_IO specifies that every WRITE to a journal file to be committed directly to disk. On high-end disk subsystems (for example, those that include non-volatile cache and that consider the data to be committed when it reaches this cache), this might.  Operational default is </a:t>
            </a:r>
            <a:r>
              <a:rPr lang="en-US" dirty="0" err="1"/>
              <a:t>nosync_io</a:t>
            </a:r>
            <a:r>
              <a:rPr lang="en-US" dirty="0"/>
              <a:t> but is something which can be verified during benchmark exercises to see if it works better for particular storages.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80847B4-4CE4-5A25-597C-7B776235D40B}"/>
              </a:ext>
            </a:extLst>
          </p:cNvPr>
          <p:cNvSpPr>
            <a:spLocks noGrp="1"/>
          </p:cNvSpPr>
          <p:nvPr>
            <p:ph type="sldNum" sz="quarter" idx="10"/>
          </p:nvPr>
        </p:nvSpPr>
        <p:spPr/>
        <p:txBody>
          <a:bodyPr/>
          <a:lstStyle/>
          <a:p>
            <a:pPr>
              <a:defRPr/>
            </a:pPr>
            <a:fld id="{3AD1BE0A-9D7F-468C-B599-8AB35EA99D95}" type="slidenum">
              <a:rPr lang="en-US" smtClean="0"/>
              <a:pPr>
                <a:defRPr/>
              </a:pPr>
              <a:t>24</a:t>
            </a:fld>
            <a:endParaRPr lang="en-US"/>
          </a:p>
        </p:txBody>
      </p:sp>
    </p:spTree>
    <p:extLst>
      <p:ext uri="{BB962C8B-B14F-4D97-AF65-F5344CB8AC3E}">
        <p14:creationId xmlns:p14="http://schemas.microsoft.com/office/powerpoint/2010/main" val="944671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07C04-F2C8-C8C4-3299-BE906EEA4083}"/>
              </a:ext>
            </a:extLst>
          </p:cNvPr>
          <p:cNvSpPr>
            <a:spLocks noGrp="1"/>
          </p:cNvSpPr>
          <p:nvPr>
            <p:ph type="title"/>
          </p:nvPr>
        </p:nvSpPr>
        <p:spPr/>
        <p:txBody>
          <a:bodyPr/>
          <a:lstStyle/>
          <a:p>
            <a:r>
              <a:rPr lang="en-US" dirty="0"/>
              <a:t>GT.M Journaling</a:t>
            </a:r>
            <a:br>
              <a:rPr lang="en-US" dirty="0"/>
            </a:br>
            <a:r>
              <a:rPr lang="en-US" dirty="0"/>
              <a:t>Performance review</a:t>
            </a:r>
          </a:p>
        </p:txBody>
      </p:sp>
      <p:sp>
        <p:nvSpPr>
          <p:cNvPr id="3" name="Content Placeholder 2">
            <a:extLst>
              <a:ext uri="{FF2B5EF4-FFF2-40B4-BE49-F238E27FC236}">
                <a16:creationId xmlns:a16="http://schemas.microsoft.com/office/drawing/2014/main" id="{C3683B02-8904-BC30-93CA-09285182CEB3}"/>
              </a:ext>
            </a:extLst>
          </p:cNvPr>
          <p:cNvSpPr>
            <a:spLocks noGrp="1"/>
          </p:cNvSpPr>
          <p:nvPr>
            <p:ph idx="1"/>
          </p:nvPr>
        </p:nvSpPr>
        <p:spPr/>
        <p:txBody>
          <a:bodyPr/>
          <a:lstStyle/>
          <a:p>
            <a:r>
              <a:rPr lang="en-US" dirty="0"/>
              <a:t>Yield Limit default of 8 should be sufficient.  As the disk can only write entire blocks of data, many I/O subsystems perform a READ-MODIFYWRITE operation when data to be written is a partial block as opposed to simple writes for an entire block. The YIELD_LIMIT qualifier tries to reduce the frequency of sub-optimal partial block writes by deferring such writes as much as possible in the hope that in the meantime the journal buffer accumulates more content and qualifies for an optimal entire block write.</a:t>
            </a:r>
          </a:p>
          <a:p>
            <a:endParaRPr lang="en-US" dirty="0"/>
          </a:p>
          <a:p>
            <a:r>
              <a:rPr lang="en-US" dirty="0"/>
              <a:t>ALIGN_SIZE: As Profile’s recovery strategy is to switchover, a larger align size should not impact recovery time where it will impact any uptime.  A customer can consider testing with the values of 8,192, 16,384, and 1,048,576 to see if there is any noticeable impact.</a:t>
            </a:r>
          </a:p>
          <a:p>
            <a:endParaRPr lang="en-US" dirty="0"/>
          </a:p>
          <a:p>
            <a:r>
              <a:rPr lang="en-US" dirty="0"/>
              <a:t>EPOCH’s are sync points between the Database files and journal files</a:t>
            </a:r>
          </a:p>
          <a:p>
            <a:pPr lvl="1"/>
            <a:r>
              <a:rPr lang="en-US" dirty="0"/>
              <a:t>The lower the epoch interval the more IO which might we generated but the sync point will likely be smaller vs. a large epoch interval which will produce less number of sync points but the writes for the epoch will be much larger,</a:t>
            </a:r>
          </a:p>
          <a:p>
            <a:pPr lvl="1"/>
            <a:r>
              <a:rPr lang="en-US" dirty="0"/>
              <a:t>Clients can use different EPOCH intervals with MUPIP SET –JOURNAL=ON,BEFORE,EPOCH=xx –REG Z which can help reduce the impacts of epochs if some regions are impacted by epochs more then others.</a:t>
            </a:r>
          </a:p>
          <a:p>
            <a:pPr lvl="1"/>
            <a:r>
              <a:rPr lang="en-US" dirty="0"/>
              <a:t>Setting an epoch can be space out so there is less chance of 2 or more database files issue an epoch at the same time, example (in </a:t>
            </a:r>
            <a:r>
              <a:rPr lang="en-US" dirty="0" err="1"/>
              <a:t>ksh</a:t>
            </a:r>
            <a:r>
              <a:rPr lang="en-US" dirty="0"/>
              <a:t>) </a:t>
            </a:r>
            <a:br>
              <a:rPr lang="en-US" dirty="0"/>
            </a:br>
            <a:r>
              <a:rPr lang="en-US" dirty="0">
                <a:latin typeface="Courier New" panose="02070309020205020404" pitchFamily="49" charset="0"/>
                <a:cs typeface="Courier New" panose="02070309020205020404" pitchFamily="49" charset="0"/>
              </a:rPr>
              <a:t>for r in $(</a:t>
            </a:r>
            <a:r>
              <a:rPr lang="en-US" dirty="0" err="1">
                <a:latin typeface="Courier New" panose="02070309020205020404" pitchFamily="49" charset="0"/>
                <a:cs typeface="Courier New" panose="02070309020205020404" pitchFamily="49" charset="0"/>
              </a:rPr>
              <a:t>db_regions</a:t>
            </a:r>
            <a:r>
              <a:rPr lang="en-US" dirty="0">
                <a:latin typeface="Courier New" panose="02070309020205020404" pitchFamily="49" charset="0"/>
                <a:cs typeface="Courier New" panose="02070309020205020404" pitchFamily="49" charset="0"/>
              </a:rPr>
              <a:t>) ; do </a:t>
            </a:r>
            <a:r>
              <a:rPr lang="en-US" dirty="0" err="1">
                <a:latin typeface="Courier New" panose="02070309020205020404" pitchFamily="49" charset="0"/>
                <a:cs typeface="Courier New" panose="02070309020205020404" pitchFamily="49" charset="0"/>
              </a:rPr>
              <a:t>mupip</a:t>
            </a:r>
            <a:r>
              <a:rPr lang="en-US" dirty="0">
                <a:latin typeface="Courier New" panose="02070309020205020404" pitchFamily="49" charset="0"/>
                <a:cs typeface="Courier New" panose="02070309020205020404" pitchFamily="49" charset="0"/>
              </a:rPr>
              <a:t> set –journal=</a:t>
            </a:r>
            <a:r>
              <a:rPr lang="en-US" dirty="0" err="1">
                <a:latin typeface="Courier New" panose="02070309020205020404" pitchFamily="49" charset="0"/>
                <a:cs typeface="Courier New" panose="02070309020205020404" pitchFamily="49" charset="0"/>
              </a:rPr>
              <a:t>on,before,epoch</a:t>
            </a:r>
            <a:r>
              <a:rPr lang="en-US" dirty="0">
                <a:latin typeface="Courier New" panose="02070309020205020404" pitchFamily="49" charset="0"/>
                <a:cs typeface="Courier New" panose="02070309020205020404" pitchFamily="49" charset="0"/>
              </a:rPr>
              <a:t>=60 –reg ${r} ; sleep 2 ; done </a:t>
            </a:r>
          </a:p>
          <a:p>
            <a:pPr lvl="1"/>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80847B4-4CE4-5A25-597C-7B776235D40B}"/>
              </a:ext>
            </a:extLst>
          </p:cNvPr>
          <p:cNvSpPr>
            <a:spLocks noGrp="1"/>
          </p:cNvSpPr>
          <p:nvPr>
            <p:ph type="sldNum" sz="quarter" idx="10"/>
          </p:nvPr>
        </p:nvSpPr>
        <p:spPr/>
        <p:txBody>
          <a:bodyPr/>
          <a:lstStyle/>
          <a:p>
            <a:pPr>
              <a:defRPr/>
            </a:pPr>
            <a:fld id="{3AD1BE0A-9D7F-468C-B599-8AB35EA99D95}" type="slidenum">
              <a:rPr lang="en-US" smtClean="0"/>
              <a:pPr>
                <a:defRPr/>
              </a:pPr>
              <a:t>25</a:t>
            </a:fld>
            <a:endParaRPr lang="en-US"/>
          </a:p>
        </p:txBody>
      </p:sp>
    </p:spTree>
    <p:extLst>
      <p:ext uri="{BB962C8B-B14F-4D97-AF65-F5344CB8AC3E}">
        <p14:creationId xmlns:p14="http://schemas.microsoft.com/office/powerpoint/2010/main" val="72263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GT.M Journaling – Quick Commands</a:t>
            </a:r>
          </a:p>
        </p:txBody>
      </p:sp>
      <p:sp>
        <p:nvSpPr>
          <p:cNvPr id="3" name="Content Placeholder 2"/>
          <p:cNvSpPr>
            <a:spLocks noGrp="1"/>
          </p:cNvSpPr>
          <p:nvPr>
            <p:ph idx="1"/>
          </p:nvPr>
        </p:nvSpPr>
        <p:spPr/>
        <p:txBody>
          <a:bodyPr/>
          <a:lstStyle/>
          <a:p>
            <a:r>
              <a:rPr lang="en-US" dirty="0"/>
              <a:t>Enable Journaling</a:t>
            </a:r>
          </a:p>
          <a:p>
            <a:pPr lvl="1"/>
            <a:r>
              <a:rPr lang="en-US" dirty="0"/>
              <a:t>MUPIP SET –JOURNAL=ENABLE,[NO]BEFORE … </a:t>
            </a:r>
          </a:p>
          <a:p>
            <a:pPr lvl="2">
              <a:buNone/>
            </a:pPr>
            <a:r>
              <a:rPr lang="en-US" sz="1200" dirty="0"/>
              <a:t>FILE={file reference} –{REGION / FILE}</a:t>
            </a:r>
          </a:p>
          <a:p>
            <a:pPr lvl="1"/>
            <a:r>
              <a:rPr lang="en-US" dirty="0"/>
              <a:t>Can also be managed by running journal/replication _on / </a:t>
            </a:r>
            <a:r>
              <a:rPr lang="en-US" dirty="0" err="1"/>
              <a:t>journal_on</a:t>
            </a:r>
            <a:endParaRPr lang="en-US" dirty="0"/>
          </a:p>
          <a:p>
            <a:r>
              <a:rPr lang="en-US" dirty="0"/>
              <a:t>Disable Journaling</a:t>
            </a:r>
          </a:p>
          <a:p>
            <a:pPr lvl="1"/>
            <a:r>
              <a:rPr lang="en-US" dirty="0"/>
              <a:t>MUPIP SET –NOJOURNAL –{REGION / FILE}</a:t>
            </a:r>
          </a:p>
          <a:p>
            <a:r>
              <a:rPr lang="en-US" dirty="0"/>
              <a:t>Switching Journal Files</a:t>
            </a:r>
          </a:p>
          <a:p>
            <a:pPr lvl="1"/>
            <a:r>
              <a:rPr lang="en-US" dirty="0"/>
              <a:t>MUPIP SET –JOURNAL=[NO]BEFORE  -{REGION}</a:t>
            </a:r>
          </a:p>
          <a:p>
            <a:r>
              <a:rPr lang="en-US" dirty="0"/>
              <a:t>Turn Off Journaling</a:t>
            </a:r>
          </a:p>
          <a:p>
            <a:pPr lvl="1"/>
            <a:r>
              <a:rPr lang="en-US" dirty="0"/>
              <a:t>MUPIP SET –JOURNAL=OFF -{REGION / FILE}</a:t>
            </a:r>
          </a:p>
          <a:p>
            <a:pPr lvl="1"/>
            <a:r>
              <a:rPr lang="en-US" dirty="0"/>
              <a:t>Leaves journaling characteristics in the database file a</a:t>
            </a:r>
            <a:br>
              <a:rPr lang="en-US" dirty="0"/>
            </a:br>
            <a:r>
              <a:rPr lang="en-US" dirty="0"/>
              <a:t>MUPIP SET –JOURNAL=ON,BEFORE will use the current settings</a:t>
            </a:r>
          </a:p>
          <a:p>
            <a:r>
              <a:rPr lang="en-US" dirty="0"/>
              <a:t>Backward Recovery after a crash</a:t>
            </a:r>
          </a:p>
          <a:p>
            <a:pPr lvl="1"/>
            <a:r>
              <a:rPr lang="en-US" dirty="0"/>
              <a:t>MUPIP JOURNAL –RECOVER –BACKWARD –VERBOSE ‘*’</a:t>
            </a:r>
          </a:p>
          <a:p>
            <a:pPr lvl="1"/>
            <a:r>
              <a:rPr lang="en-US" dirty="0"/>
              <a:t>Can also be managed by running sca_pa_startup.sh</a:t>
            </a:r>
          </a:p>
          <a:p>
            <a:r>
              <a:rPr lang="en-US" dirty="0"/>
              <a:t>Forward Recovery after a restore</a:t>
            </a:r>
          </a:p>
          <a:p>
            <a:pPr lvl="1"/>
            <a:r>
              <a:rPr lang="en-US" dirty="0"/>
              <a:t>MUPIP JOURNAL –RECOVER –FORWARD –VERBOSE ‘*’</a:t>
            </a:r>
          </a:p>
          <a:p>
            <a:r>
              <a:rPr lang="en-US" dirty="0"/>
              <a:t>Extract a journal file</a:t>
            </a:r>
          </a:p>
          <a:p>
            <a:pPr lvl="1"/>
            <a:r>
              <a:rPr lang="en-US" dirty="0"/>
              <a:t>MUPIP JOURNAL –FORWARD –EXTRACT=</a:t>
            </a:r>
            <a:r>
              <a:rPr lang="en-US" dirty="0" err="1"/>
              <a:t>jnl_file.mjf</a:t>
            </a:r>
            <a:r>
              <a:rPr lang="en-US" dirty="0"/>
              <a:t> –FENCE=NONE –NOVERIFY &lt;</a:t>
            </a:r>
            <a:r>
              <a:rPr lang="en-US" dirty="0" err="1"/>
              <a:t>jnl</a:t>
            </a:r>
            <a:r>
              <a:rPr lang="en-US" dirty="0"/>
              <a:t> file&gt;</a:t>
            </a:r>
          </a:p>
          <a:p>
            <a:endParaRPr lang="en-US" dirty="0"/>
          </a:p>
        </p:txBody>
      </p:sp>
      <p:sp>
        <p:nvSpPr>
          <p:cNvPr id="4" name="Slide Number Placeholder 3"/>
          <p:cNvSpPr>
            <a:spLocks noGrp="1"/>
          </p:cNvSpPr>
          <p:nvPr>
            <p:ph type="sldNum" sz="quarter" idx="10"/>
          </p:nvPr>
        </p:nvSpPr>
        <p:spPr/>
        <p:txBody>
          <a:bodyPr/>
          <a:lstStyle/>
          <a:p>
            <a:fld id="{6EF4D2D5-8D6E-4623-930F-51CDEFA394B9}" type="slidenum">
              <a:rPr lang="en-US" smtClean="0"/>
              <a:pPr/>
              <a:t>26</a:t>
            </a:fld>
            <a:endParaRPr lang="en-US" dirty="0"/>
          </a:p>
        </p:txBody>
      </p:sp>
    </p:spTree>
    <p:extLst>
      <p:ext uri="{BB962C8B-B14F-4D97-AF65-F5344CB8AC3E}">
        <p14:creationId xmlns:p14="http://schemas.microsoft.com/office/powerpoint/2010/main" val="2904477509"/>
      </p:ext>
    </p:extLst>
  </p:cSld>
  <p:clrMapOvr>
    <a:masterClrMapping/>
  </p:clrMapOvr>
</p:sld>
</file>

<file path=ppt/theme/theme1.xml><?xml version="1.0" encoding="utf-8"?>
<a:theme xmlns:a="http://schemas.openxmlformats.org/drawingml/2006/main" name="Office Theme">
  <a:themeElements>
    <a:clrScheme name="Custom 8">
      <a:dk1>
        <a:srgbClr val="262626"/>
      </a:dk1>
      <a:lt1>
        <a:sysClr val="window" lastClr="FFFFFF"/>
      </a:lt1>
      <a:dk2>
        <a:srgbClr val="6E6F70"/>
      </a:dk2>
      <a:lt2>
        <a:srgbClr val="EEECE1"/>
      </a:lt2>
      <a:accent1>
        <a:srgbClr val="3F5D12"/>
      </a:accent1>
      <a:accent2>
        <a:srgbClr val="7BBE30"/>
      </a:accent2>
      <a:accent3>
        <a:srgbClr val="9BBB59"/>
      </a:accent3>
      <a:accent4>
        <a:srgbClr val="CBDB2C"/>
      </a:accent4>
      <a:accent5>
        <a:srgbClr val="EDE809"/>
      </a:accent5>
      <a:accent6>
        <a:srgbClr val="FFF161"/>
      </a:accent6>
      <a:hlink>
        <a:srgbClr val="6D6E72"/>
      </a:hlink>
      <a:folHlink>
        <a:srgbClr val="ADADA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sz="1400" dirty="0" smtClean="0">
            <a:latin typeface="Arial"/>
            <a:cs typeface="Arial"/>
          </a:defRPr>
        </a:defPPr>
      </a:lstStyle>
    </a:txDef>
  </a:objectDefaults>
  <a:extraClrSchemeLst/>
</a:theme>
</file>

<file path=ppt/theme/theme2.xml><?xml version="1.0" encoding="utf-8"?>
<a:theme xmlns:a="http://schemas.openxmlformats.org/drawingml/2006/main" name="1_Office Theme">
  <a:themeElements>
    <a:clrScheme name="1_Office Theme 1">
      <a:dk1>
        <a:srgbClr val="262626"/>
      </a:dk1>
      <a:lt1>
        <a:srgbClr val="FFFFFF"/>
      </a:lt1>
      <a:dk2>
        <a:srgbClr val="6E6F70"/>
      </a:dk2>
      <a:lt2>
        <a:srgbClr val="EEECE1"/>
      </a:lt2>
      <a:accent1>
        <a:srgbClr val="3F5D12"/>
      </a:accent1>
      <a:accent2>
        <a:srgbClr val="7BBE30"/>
      </a:accent2>
      <a:accent3>
        <a:srgbClr val="FFFFFF"/>
      </a:accent3>
      <a:accent4>
        <a:srgbClr val="1F1F1F"/>
      </a:accent4>
      <a:accent5>
        <a:srgbClr val="AFB6AA"/>
      </a:accent5>
      <a:accent6>
        <a:srgbClr val="6FAC2A"/>
      </a:accent6>
      <a:hlink>
        <a:srgbClr val="6D6E72"/>
      </a:hlink>
      <a:folHlink>
        <a:srgbClr val="ADADAD"/>
      </a:folHlink>
    </a:clrScheme>
    <a:fontScheme name="1_Office Theme">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ffice Theme 1">
        <a:dk1>
          <a:srgbClr val="262626"/>
        </a:dk1>
        <a:lt1>
          <a:srgbClr val="FFFFFF"/>
        </a:lt1>
        <a:dk2>
          <a:srgbClr val="6E6F70"/>
        </a:dk2>
        <a:lt2>
          <a:srgbClr val="EEECE1"/>
        </a:lt2>
        <a:accent1>
          <a:srgbClr val="3F5D12"/>
        </a:accent1>
        <a:accent2>
          <a:srgbClr val="7BBE30"/>
        </a:accent2>
        <a:accent3>
          <a:srgbClr val="FFFFFF"/>
        </a:accent3>
        <a:accent4>
          <a:srgbClr val="1F1F1F"/>
        </a:accent4>
        <a:accent5>
          <a:srgbClr val="AFB6AA"/>
        </a:accent5>
        <a:accent6>
          <a:srgbClr val="6FAC2A"/>
        </a:accent6>
        <a:hlink>
          <a:srgbClr val="6D6E72"/>
        </a:hlink>
        <a:folHlink>
          <a:srgbClr val="ADADA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049BB0B0F7E344EB31271200EB91B47" ma:contentTypeVersion="8" ma:contentTypeDescription="Create a new document." ma:contentTypeScope="" ma:versionID="f34781cf4bbcb52034e4a6a5cd2d766f">
  <xsd:schema xmlns:xsd="http://www.w3.org/2001/XMLSchema" xmlns:xs="http://www.w3.org/2001/XMLSchema" xmlns:p="http://schemas.microsoft.com/office/2006/metadata/properties" xmlns:ns2="159fac24-31f1-47b8-8d6a-77e43bf8251e" targetNamespace="http://schemas.microsoft.com/office/2006/metadata/properties" ma:root="true" ma:fieldsID="df38f9bea4ef9fe032a911fdeef5a107" ns2:_="">
    <xsd:import namespace="159fac24-31f1-47b8-8d6a-77e43bf825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9fac24-31f1-47b8-8d6a-77e43bf825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BC76588E-264B-4D60-9505-88964C8059CD}"/>
</file>

<file path=customXml/itemProps2.xml><?xml version="1.0" encoding="utf-8"?>
<ds:datastoreItem xmlns:ds="http://schemas.openxmlformats.org/officeDocument/2006/customXml" ds:itemID="{22F2E5C0-49A8-4812-B656-7FB4BBD79971}">
  <ds:schemaRefs>
    <ds:schemaRef ds:uri="http://schemas.microsoft.com/sharepoint/v3/contenttype/forms"/>
  </ds:schemaRefs>
</ds:datastoreItem>
</file>

<file path=customXml/itemProps3.xml><?xml version="1.0" encoding="utf-8"?>
<ds:datastoreItem xmlns:ds="http://schemas.openxmlformats.org/officeDocument/2006/customXml" ds:itemID="{8AD2A5EB-BB32-47E7-B0EB-8FA2D79C5C95}">
  <ds:schemaRefs>
    <ds:schemaRef ds:uri="http://schemas.microsoft.com/office/2006/metadata/properties"/>
    <ds:schemaRef ds:uri="f973b30c-1df3-4c2a-bca9-cf21b10eff93"/>
    <ds:schemaRef ds:uri="36097fb6-9832-4662-bc8a-b0f9994c5b47"/>
  </ds:schemaRefs>
</ds:datastoreItem>
</file>

<file path=docProps/app.xml><?xml version="1.0" encoding="utf-8"?>
<Properties xmlns="http://schemas.openxmlformats.org/officeDocument/2006/extended-properties" xmlns:vt="http://schemas.openxmlformats.org/officeDocument/2006/docPropsVTypes">
  <Template/>
  <TotalTime>4530</TotalTime>
  <Words>5947</Words>
  <Application>Microsoft Office PowerPoint</Application>
  <PresentationFormat>On-screen Show (4:3)</PresentationFormat>
  <Paragraphs>353</Paragraphs>
  <Slides>26</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26</vt:i4>
      </vt:variant>
    </vt:vector>
  </HeadingPairs>
  <TitlesOfParts>
    <vt:vector size="31" baseType="lpstr">
      <vt:lpstr>Arial</vt:lpstr>
      <vt:lpstr>Calibri</vt:lpstr>
      <vt:lpstr>Courier New</vt:lpstr>
      <vt:lpstr>Office Theme</vt:lpstr>
      <vt:lpstr>1_Office Theme</vt:lpstr>
      <vt:lpstr>UNIX Profile 7.x Series w/GT.M Operations Training GT.M Journaling</vt:lpstr>
      <vt:lpstr>GT.M Journaling Discussion</vt:lpstr>
      <vt:lpstr>GT.M Journaling</vt:lpstr>
      <vt:lpstr>GT.M Journaling</vt:lpstr>
      <vt:lpstr>GT.M Journaling</vt:lpstr>
      <vt:lpstr>GT.M Journaling</vt:lpstr>
      <vt:lpstr>GT.M Journaling – MUPIP SET  -JOURNAL Qualifiers</vt:lpstr>
      <vt:lpstr>GT.M Journaling – MUPIP SET  -JOURNAL Qualifiers</vt:lpstr>
      <vt:lpstr>GT.M Journaling – MUPIP SET  -JOURNAL Qualifiers</vt:lpstr>
      <vt:lpstr>GT.M Journaling – MUPIP SET  -JOURNAL Qualifiers</vt:lpstr>
      <vt:lpstr>GT.M Journaling – MUPIP SET  -JOURNAL Qualifiers</vt:lpstr>
      <vt:lpstr>GT.M Journaling – JOURNAL Qualifiers</vt:lpstr>
      <vt:lpstr>GT.M Journaling – JOURNAL Qualifiers</vt:lpstr>
      <vt:lpstr>GT.M Journaling – JOURNAL Qualifiers</vt:lpstr>
      <vt:lpstr>GT.M Journaling –Time Formats for Time Qualifiers</vt:lpstr>
      <vt:lpstr>GT.M Journaling Time Qualifiers</vt:lpstr>
      <vt:lpstr>GT.M Journaling - Forward Recovery</vt:lpstr>
      <vt:lpstr>GT.M Journaling – Backward Recovery</vt:lpstr>
      <vt:lpstr>GT.M Journaling Control Qualifiers</vt:lpstr>
      <vt:lpstr>GT.M Journaling Control Qualifiers</vt:lpstr>
      <vt:lpstr>GT.M Journaling – Verification Review</vt:lpstr>
      <vt:lpstr>GT.M Journaling Selection Qualifiers</vt:lpstr>
      <vt:lpstr>GT.M Journaling Selection Qualifiers</vt:lpstr>
      <vt:lpstr>GT.M Journaling Performance review</vt:lpstr>
      <vt:lpstr>GT.M Journaling Performance review</vt:lpstr>
      <vt:lpstr>GT.M Journaling – Quick Commands</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UNIX Profile with GT.M Operations</dc:title>
  <dc:subject>Profile Version 7.x GT.M 5.x</dc:subject>
  <dc:creator>Richard Silvagni</dc:creator>
  <cp:lastModifiedBy>Sztonyk, Bartlomiej</cp:lastModifiedBy>
  <cp:revision>250</cp:revision>
  <dcterms:created xsi:type="dcterms:W3CDTF">2009-09-29T19:27:03Z</dcterms:created>
  <dcterms:modified xsi:type="dcterms:W3CDTF">2025-03-13T03:40:11Z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0x010100B049BB0B0F7E344EB31271200EB91B47</vt:lpwstr>
  </property>
  <property fmtid="{D5CDD505-2E9C-101B-9397-08002B2CF9AE}" pid="3" name="TemplateUrl">
    <vt:lpwstr/>
  </property>
  <property fmtid="{D5CDD505-2E9C-101B-9397-08002B2CF9AE}" pid="4" name="xd_Signature">
    <vt:bool>false</vt:bool>
  </property>
  <property fmtid="{D5CDD505-2E9C-101B-9397-08002B2CF9AE}" pid="5" name="xd_ProgID">
    <vt:lpwstr/>
  </property>
  <property fmtid="{D5CDD505-2E9C-101B-9397-08002B2CF9AE}" pid="6" name="MSIP_Label_9e1e58c1-766d-4ff4-9619-b604fc37898b_Enabled">
    <vt:lpwstr>true</vt:lpwstr>
  </property>
  <property fmtid="{D5CDD505-2E9C-101B-9397-08002B2CF9AE}" pid="7" name="MSIP_Label_9e1e58c1-766d-4ff4-9619-b604fc37898b_SetDate">
    <vt:lpwstr>2024-07-23T15:43:11Z</vt:lpwstr>
  </property>
  <property fmtid="{D5CDD505-2E9C-101B-9397-08002B2CF9AE}" pid="8" name="MSIP_Label_9e1e58c1-766d-4ff4-9619-b604fc37898b_Method">
    <vt:lpwstr>Standard</vt:lpwstr>
  </property>
  <property fmtid="{D5CDD505-2E9C-101B-9397-08002B2CF9AE}" pid="9" name="MSIP_Label_9e1e58c1-766d-4ff4-9619-b604fc37898b_Name">
    <vt:lpwstr>Internal Use</vt:lpwstr>
  </property>
  <property fmtid="{D5CDD505-2E9C-101B-9397-08002B2CF9AE}" pid="10" name="MSIP_Label_9e1e58c1-766d-4ff4-9619-b604fc37898b_SiteId">
    <vt:lpwstr>e3ff91d8-34c8-4b15-a0b4-18910a6ac575</vt:lpwstr>
  </property>
  <property fmtid="{D5CDD505-2E9C-101B-9397-08002B2CF9AE}" pid="11" name="MSIP_Label_9e1e58c1-766d-4ff4-9619-b604fc37898b_ActionId">
    <vt:lpwstr>5aa8d100-7be3-4b65-840e-6135790d309b</vt:lpwstr>
  </property>
  <property fmtid="{D5CDD505-2E9C-101B-9397-08002B2CF9AE}" pid="12" name="MSIP_Label_9e1e58c1-766d-4ff4-9619-b604fc37898b_ContentBits">
    <vt:lpwstr>0</vt:lpwstr>
  </property>
</Properties>
</file>